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0000" y="1400000"/>
            <a:ext cx="1600000" cy="360000"/>
          </a:xfrm>
          <a:prstGeom prst="roundRect">
            <a:avLst/>
          </a:prstGeom>
          <a:solidFill>
            <a:srgbClr val="FBEADB"/>
          </a:solidFill>
          <a:ln w="1270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B"/>
                </a:solidFill>
                <a:latin typeface="Arial"/>
              </a:rPr>
              <a:t>gin-workflow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950000"/>
            <a:ext cx="11192000" cy="16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600" b="1">
                <a:solidFill>
                  <a:srgbClr val="141C26"/>
                </a:solidFill>
                <a:latin typeface="Arial"/>
              </a:rPr>
              <a:t>The Agentic Development Lifecycle</a:t>
            </a:r>
          </a:p>
          <a:p>
            <a:r>
              <a:rPr sz="1600">
                <a:solidFill>
                  <a:srgbClr val="5B6676"/>
                </a:solidFill>
                <a:latin typeface="Arial"/>
              </a:rPr>
              <a:t>From requirement to merge through recorded quality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0000" y="3850000"/>
            <a:ext cx="8500000" cy="6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/>
          <a:lstStyle/>
          <a:p>
            <a:pPr algn="ctr"/>
            <a:r>
              <a:rPr sz="1400" b="1">
                <a:solidFill>
                  <a:srgbClr val="141C26"/>
                </a:solidFill>
                <a:latin typeface="Consolas"/>
              </a:rPr>
              <a:t>discuss</a:t>
            </a:r>
            <a:r>
              <a:rPr sz="1400" b="0">
                <a:solidFill>
                  <a:srgbClr val="141C26"/>
                </a:solidFill>
                <a:latin typeface="Arial"/>
              </a:rPr>
              <a:t> → </a:t>
            </a:r>
            <a:r>
              <a:rPr sz="1400" b="1">
                <a:solidFill>
                  <a:srgbClr val="141C26"/>
                </a:solidFill>
                <a:latin typeface="Consolas"/>
              </a:rPr>
              <a:t>plan</a:t>
            </a:r>
            <a:r>
              <a:rPr sz="1400" b="0">
                <a:solidFill>
                  <a:srgbClr val="141C26"/>
                </a:solidFill>
                <a:latin typeface="Arial"/>
              </a:rPr>
              <a:t> → </a:t>
            </a:r>
            <a:r>
              <a:rPr sz="1400" b="1">
                <a:solidFill>
                  <a:srgbClr val="141C26"/>
                </a:solidFill>
                <a:latin typeface="Consolas"/>
              </a:rPr>
              <a:t>orchestrate</a:t>
            </a:r>
            <a:r>
              <a:rPr sz="1400" b="0">
                <a:solidFill>
                  <a:srgbClr val="141C26"/>
                </a:solidFill>
                <a:latin typeface="Arial"/>
              </a:rPr>
              <a:t> → </a:t>
            </a:r>
            <a:r>
              <a:rPr sz="1400" b="1">
                <a:solidFill>
                  <a:srgbClr val="141C26"/>
                </a:solidFill>
                <a:latin typeface="Consolas"/>
              </a:rPr>
              <a:t>execute</a:t>
            </a:r>
            <a:r>
              <a:rPr sz="1400" b="0">
                <a:solidFill>
                  <a:srgbClr val="141C26"/>
                </a:solidFill>
                <a:latin typeface="Arial"/>
              </a:rPr>
              <a:t> → </a:t>
            </a:r>
            <a:r>
              <a:rPr sz="1400" b="1">
                <a:solidFill>
                  <a:srgbClr val="141C26"/>
                </a:solidFill>
                <a:latin typeface="Consolas"/>
              </a:rPr>
              <a:t>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4800000"/>
            <a:ext cx="11192000" cy="5000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6"/>
                </a:solidFill>
                <a:latin typeface="Arial"/>
              </a:rPr>
              <a:t>Navigation: Press ← / → or PageUp / PageDown or Space to navigate slides, Home / End to jump.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Why an Agentic Lifecycle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Agents need gates, evidence, and a bounded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353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Hard Phase Boundaries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Agents need gates, evidence, and a bounded scope. Stages enforce strict stops: one stage invocation executes exactly one stage and exits.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0000" y="1450000"/>
            <a:ext cx="353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Evidence Over Assertion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An agent claiming "tests pass" or "feature complete" is never enough. Every claim requires machine-verifiable proof: command output with zero failures, verified diffs, and clean test baselines.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0000" y="1450000"/>
            <a:ext cx="353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Human Control at Gates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The agent does the heavy lifting, but people maintain authority: confirming the design spec, approving the plan decomposition, and authorizing every merge, pull request, or discard.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BEADB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Core principle: </a:t>
            </a:r>
            <a:r>
              <a:rPr sz="1050">
                <a:solidFill>
                  <a:srgbClr val="141C26"/>
                </a:solidFill>
                <a:latin typeface="Arial"/>
              </a:rPr>
              <a:t>Mechanical checks run in git hooks at zero token cost; human judgment decides scope, architecture, and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The Lifecycle at a Glance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Swim lanes across stages, gates, people, agents, and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1818000"/>
            <a:ext cx="11256000" cy="1927200"/>
          </a:xfrm>
          <a:prstGeom prst="rect">
            <a:avLst/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8000" y="3745200"/>
            <a:ext cx="11256000" cy="1445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5190600"/>
            <a:ext cx="11256000" cy="4818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818000"/>
            <a:ext cx="42000" cy="1927200"/>
          </a:xfrm>
          <a:prstGeom prst="rect">
            <a:avLst/>
          </a:prstGeom>
          <a:solidFill>
            <a:srgbClr val="B45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3745200"/>
            <a:ext cx="42000" cy="1445400"/>
          </a:xfrm>
          <a:prstGeom prst="rect">
            <a:avLst/>
          </a:prstGeom>
          <a:solidFill>
            <a:srgbClr val="2B5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000" y="5190600"/>
            <a:ext cx="42000" cy="481800"/>
          </a:xfrm>
          <a:prstGeom prst="rect">
            <a:avLst/>
          </a:prstGeom>
          <a:solidFill>
            <a:srgbClr val="5B6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68000" y="18180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8000" y="22998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8000" y="27816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8000" y="32634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8000" y="37452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8000" y="42270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8000" y="47088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8000" y="51906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8000" y="5672400"/>
            <a:ext cx="11256000" cy="0"/>
          </a:xfrm>
          <a:prstGeom prst="line">
            <a:avLst/>
          </a:prstGeom>
          <a:ln w="10160">
            <a:solidFill>
              <a:srgbClr val="CF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80000" y="1526000"/>
            <a:ext cx="0" cy="4146400"/>
          </a:xfrm>
          <a:prstGeom prst="line">
            <a:avLst/>
          </a:prstGeom>
          <a:ln w="10160">
            <a:solidFill>
              <a:srgbClr val="CFD6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60000" y="1526000"/>
            <a:ext cx="0" cy="4146400"/>
          </a:xfrm>
          <a:prstGeom prst="line">
            <a:avLst/>
          </a:prstGeom>
          <a:ln w="10160">
            <a:solidFill>
              <a:srgbClr val="CFD6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40000" y="1526000"/>
            <a:ext cx="0" cy="4146400"/>
          </a:xfrm>
          <a:prstGeom prst="line">
            <a:avLst/>
          </a:prstGeom>
          <a:ln w="10160">
            <a:solidFill>
              <a:srgbClr val="CFD6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20000" y="1526000"/>
            <a:ext cx="0" cy="4146400"/>
          </a:xfrm>
          <a:prstGeom prst="line">
            <a:avLst/>
          </a:prstGeom>
          <a:ln w="10160">
            <a:solidFill>
              <a:srgbClr val="CFD6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08000" y="1526000"/>
            <a:ext cx="0" cy="4146400"/>
          </a:xfrm>
          <a:prstGeom prst="line">
            <a:avLst/>
          </a:prstGeom>
          <a:ln w="10160">
            <a:solidFill>
              <a:srgbClr val="CFD6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64000" y="1540600"/>
            <a:ext cx="1512000" cy="204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C26"/>
                </a:solidFill>
                <a:latin typeface="Arial"/>
              </a:rPr>
              <a:t>discuss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4000" y="1540600"/>
            <a:ext cx="1512000" cy="204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C26"/>
                </a:solidFill>
                <a:latin typeface="Arial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4000" y="1540600"/>
            <a:ext cx="1512000" cy="204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C26"/>
                </a:solidFill>
                <a:latin typeface="Arial"/>
              </a:rPr>
              <a:t>orchestrate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8000" y="1540600"/>
            <a:ext cx="1512000" cy="204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C26"/>
                </a:solidFill>
                <a:latin typeface="Arial"/>
              </a:rPr>
              <a:t>execute · per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0000" y="1540600"/>
            <a:ext cx="1512000" cy="204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C26"/>
                </a:solidFill>
                <a:latin typeface="Arial"/>
              </a:rPr>
              <a:t>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000" y="19348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Requester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BA /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000" y="24166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Area lead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owns the code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000" y="28984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Developer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runs the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00" y="33802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Ship approver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team mode, e.g. QE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00" y="38620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Main agent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your harness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000" y="43438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Worker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gin-orchestrator, optional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000" y="48256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Reviewer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fresh session or provider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000" y="5307400"/>
            <a:ext cx="1344000" cy="219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Git hooks &amp; CI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checks set by rigor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000" y="2913000"/>
            <a:ext cx="672000" cy="219000"/>
          </a:xfrm>
          <a:prstGeom prst="roundRect">
            <a:avLst/>
          </a:prstGeom>
          <a:solidFill>
            <a:srgbClr val="141C26"/>
          </a:solidFill>
          <a:ln w="1524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>
                <a:solidFill>
                  <a:srgbClr val="EEF1F4"/>
                </a:solidFill>
                <a:latin typeface="Consolas"/>
              </a:rPr>
              <a:t>/discuss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84000" y="3132000"/>
            <a:ext cx="0" cy="6935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147850" y="3482400"/>
            <a:ext cx="285750" cy="10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5B6676"/>
                </a:solidFill>
                <a:latin typeface="Arial"/>
              </a:rPr>
              <a:t>starts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000" y="3840100"/>
            <a:ext cx="1344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Asks, proposes,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writes the spec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000" y="1912900"/>
            <a:ext cx="1260000" cy="292000"/>
          </a:xfrm>
          <a:prstGeom prst="roundRect">
            <a:avLst/>
          </a:prstGeom>
          <a:solidFill>
            <a:srgbClr val="FBEADB"/>
          </a:solidFill>
          <a:ln w="1524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Confirms the spec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3240000" y="2219500"/>
            <a:ext cx="0" cy="1620600"/>
          </a:xfrm>
          <a:prstGeom prst="line">
            <a:avLst/>
          </a:prstGeom>
          <a:ln w="19050">
            <a:solidFill>
              <a:srgbClr val="B4530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90400" y="3482400"/>
            <a:ext cx="714375" cy="10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>
                <a:solidFill>
                  <a:srgbClr val="5B6676"/>
                </a:solidFill>
                <a:latin typeface="Arial"/>
              </a:rPr>
              <a:t>questions, spec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95200" y="2913000"/>
            <a:ext cx="537600" cy="219000"/>
          </a:xfrm>
          <a:prstGeom prst="roundRect">
            <a:avLst/>
          </a:prstGeom>
          <a:solidFill>
            <a:srgbClr val="141C26"/>
          </a:solidFill>
          <a:ln w="1524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>
                <a:solidFill>
                  <a:srgbClr val="EEF1F4"/>
                </a:solidFill>
                <a:latin typeface="Consolas"/>
              </a:rPr>
              <a:t>/plan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64000" y="3132000"/>
            <a:ext cx="0" cy="6935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828000" y="3840100"/>
            <a:ext cx="1344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Writes the plan: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tracks, role, tier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28000" y="2394700"/>
            <a:ext cx="1260000" cy="292000"/>
          </a:xfrm>
          <a:prstGeom prst="roundRect">
            <a:avLst/>
          </a:prstGeom>
          <a:solidFill>
            <a:srgbClr val="FBEADB"/>
          </a:solidFill>
          <a:ln w="1524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Approves the plan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920000" y="2701300"/>
            <a:ext cx="0" cy="1138800"/>
          </a:xfrm>
          <a:prstGeom prst="line">
            <a:avLst/>
          </a:prstGeom>
          <a:ln w="19050">
            <a:solidFill>
              <a:srgbClr val="B4530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970400" y="3482400"/>
            <a:ext cx="190500" cy="10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>
                <a:solidFill>
                  <a:srgbClr val="5B6676"/>
                </a:solidFill>
                <a:latin typeface="Arial"/>
              </a:rPr>
              <a:t>plan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40800" y="2913000"/>
            <a:ext cx="873600" cy="219000"/>
          </a:xfrm>
          <a:prstGeom prst="roundRect">
            <a:avLst/>
          </a:prstGeom>
          <a:solidFill>
            <a:srgbClr val="141C26"/>
          </a:solidFill>
          <a:ln w="1524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>
                <a:solidFill>
                  <a:srgbClr val="EEF1F4"/>
                </a:solidFill>
                <a:latin typeface="Consolas"/>
              </a:rPr>
              <a:t>/orchestrate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77600" y="3132000"/>
            <a:ext cx="0" cy="6935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508000" y="3840100"/>
            <a:ext cx="1344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Epic, track beads,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routes, worktree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5200" y="2913000"/>
            <a:ext cx="520800" cy="21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>
                <a:solidFill>
                  <a:srgbClr val="141C26"/>
                </a:solidFill>
                <a:latin typeface="Consolas"/>
              </a:rPr>
              <a:t>/goal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6675600" y="3146600"/>
            <a:ext cx="0" cy="6935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39450" y="3482400"/>
            <a:ext cx="285750" cy="10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5B6676"/>
                </a:solidFill>
                <a:latin typeface="Arial"/>
              </a:rPr>
              <a:t>prints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04000" y="2913000"/>
            <a:ext cx="672000" cy="219000"/>
          </a:xfrm>
          <a:prstGeom prst="roundRect">
            <a:avLst/>
          </a:prstGeom>
          <a:solidFill>
            <a:srgbClr val="141C26"/>
          </a:solidFill>
          <a:ln w="1524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>
                <a:solidFill>
                  <a:srgbClr val="EEF1F4"/>
                </a:solidFill>
                <a:latin typeface="Consolas"/>
              </a:rPr>
              <a:t>/execute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40000" y="3132000"/>
            <a:ext cx="0" cy="6935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532000" y="2876500"/>
            <a:ext cx="1092000" cy="292000"/>
          </a:xfrm>
          <a:prstGeom prst="roundRect">
            <a:avLst/>
          </a:prstGeom>
          <a:solidFill>
            <a:srgbClr val="FBEADB"/>
          </a:solidFill>
          <a:ln w="15240">
            <a:solidFill>
              <a:srgbClr val="B453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Does the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human-gate tracks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04000" y="3840100"/>
            <a:ext cx="840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Claims track,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tests first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944000" y="3986100"/>
            <a:ext cx="655200" cy="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616000" y="3840100"/>
            <a:ext cx="1008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Fixes findings,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closes track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608000" y="4132100"/>
            <a:ext cx="0" cy="1752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440000" y="4321900"/>
            <a:ext cx="924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Implements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routed track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364000" y="4467900"/>
            <a:ext cx="378000" cy="0"/>
          </a:xfrm>
          <a:prstGeom prst="line">
            <a:avLst/>
          </a:prstGeom>
          <a:ln w="15240">
            <a:solidFill>
              <a:srgbClr val="141C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742000" y="4146700"/>
            <a:ext cx="0" cy="3212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14400" y="4329200"/>
            <a:ext cx="285750" cy="10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>
                <a:solidFill>
                  <a:srgbClr val="5B6676"/>
                </a:solidFill>
                <a:latin typeface="Arial"/>
              </a:rPr>
              <a:t>result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952000" y="4132100"/>
            <a:ext cx="0" cy="6570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615850" y="4716100"/>
            <a:ext cx="285750" cy="80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5B6676"/>
                </a:solidFill>
                <a:latin typeface="Arial"/>
              </a:rPr>
              <a:t>review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48000" y="4803700"/>
            <a:ext cx="9912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Review ledger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≤ max cycles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9372000" y="4146700"/>
            <a:ext cx="0" cy="6570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422400" y="4716100"/>
            <a:ext cx="333375" cy="80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>
                <a:solidFill>
                  <a:srgbClr val="5B6676"/>
                </a:solidFill>
                <a:latin typeface="Arial"/>
              </a:rPr>
              <a:t>verdict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188000" y="4132100"/>
            <a:ext cx="0" cy="1138800"/>
          </a:xfrm>
          <a:prstGeom prst="line">
            <a:avLst/>
          </a:prstGeom>
          <a:ln w="15240">
            <a:solidFill>
              <a:srgbClr val="5B6676"/>
            </a:solidFill>
            <a:tailEnd type="triangle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238400" y="5197900"/>
            <a:ext cx="285750" cy="80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>
                <a:solidFill>
                  <a:srgbClr val="5B6676"/>
                </a:solidFill>
                <a:latin typeface="Arial"/>
              </a:rPr>
              <a:t>commit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04000" y="5285500"/>
            <a:ext cx="1008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pre-commit: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lint, typecheck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573600" y="4132100"/>
            <a:ext cx="0" cy="1138800"/>
          </a:xfrm>
          <a:prstGeom prst="line">
            <a:avLst/>
          </a:prstGeom>
          <a:ln w="15240">
            <a:solidFill>
              <a:srgbClr val="5B6676"/>
            </a:solidFill>
            <a:tailEnd type="triangle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332700" y="5197900"/>
            <a:ext cx="190500" cy="80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5B6676"/>
                </a:solidFill>
                <a:latin typeface="Arial"/>
              </a:rPr>
              <a:t>push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32000" y="5285500"/>
            <a:ext cx="1092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pre-push: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tests, build, e2e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58400" y="2913000"/>
            <a:ext cx="403200" cy="219000"/>
          </a:xfrm>
          <a:prstGeom prst="roundRect">
            <a:avLst/>
          </a:prstGeom>
          <a:solidFill>
            <a:srgbClr val="141C26"/>
          </a:solidFill>
          <a:ln w="1524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>
                <a:solidFill>
                  <a:srgbClr val="EEF1F4"/>
                </a:solidFill>
                <a:latin typeface="Consolas"/>
              </a:rPr>
              <a:t>/ship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960000" y="3132000"/>
            <a:ext cx="0" cy="6935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10296000" y="2876500"/>
            <a:ext cx="1260000" cy="292000"/>
          </a:xfrm>
          <a:prstGeom prst="roundRect">
            <a:avLst/>
          </a:prstGeom>
          <a:solidFill>
            <a:srgbClr val="FBEADB"/>
          </a:solidFill>
          <a:ln w="1524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Chooses merge, PR,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keep or discard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212000" y="3358300"/>
            <a:ext cx="1008000" cy="292000"/>
          </a:xfrm>
          <a:prstGeom prst="roundRect">
            <a:avLst/>
          </a:prstGeom>
          <a:solidFill>
            <a:srgbClr val="FBEADB"/>
          </a:solidFill>
          <a:ln w="15240">
            <a:solidFill>
              <a:srgbClr val="B453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Approves the PR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44000" y="3840100"/>
            <a:ext cx="1428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Checks ledgers,</a:t>
            </a:r>
          </a:p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merges, cleans up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11354400" y="3183100"/>
            <a:ext cx="0" cy="657000"/>
          </a:xfrm>
          <a:prstGeom prst="line">
            <a:avLst/>
          </a:prstGeom>
          <a:ln w="19050">
            <a:solidFill>
              <a:srgbClr val="B4530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548000" y="3664900"/>
            <a:ext cx="0" cy="175200"/>
          </a:xfrm>
          <a:prstGeom prst="line">
            <a:avLst/>
          </a:prstGeom>
          <a:ln w="19050">
            <a:solidFill>
              <a:srgbClr val="B4530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758000" y="4132100"/>
            <a:ext cx="0" cy="1138800"/>
          </a:xfrm>
          <a:prstGeom prst="line">
            <a:avLst/>
          </a:prstGeom>
          <a:ln w="15240">
            <a:solidFill>
              <a:srgbClr val="5B6676"/>
            </a:solidFill>
            <a:tailEnd type="triangle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0808400" y="5197900"/>
            <a:ext cx="190500" cy="80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>
                <a:solidFill>
                  <a:srgbClr val="5B6676"/>
                </a:solidFill>
                <a:latin typeface="Arial"/>
              </a:rPr>
              <a:t>push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212000" y="5285500"/>
            <a:ext cx="1092000" cy="29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>
                <a:solidFill>
                  <a:srgbClr val="141C26"/>
                </a:solidFill>
                <a:latin typeface="Arial"/>
              </a:rPr>
              <a:t>pre-push, CI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8000" y="5672400"/>
            <a:ext cx="11256000" cy="7446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000" y="5869500"/>
            <a:ext cx="1344000" cy="2555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141C26"/>
                </a:solidFill>
                <a:latin typeface="Arial"/>
              </a:rPr>
              <a:t>Gate</a:t>
            </a:r>
          </a:p>
          <a:p>
            <a:r>
              <a:rPr sz="750">
                <a:solidFill>
                  <a:srgbClr val="5B6676"/>
                </a:solidFill>
                <a:latin typeface="Arial"/>
              </a:rPr>
              <a:t>closes the stage</a:t>
            </a:r>
          </a:p>
        </p:txBody>
      </p:sp>
      <p:sp>
        <p:nvSpPr>
          <p:cNvPr id="89" name="Diamond 88"/>
          <p:cNvSpPr/>
          <p:nvPr/>
        </p:nvSpPr>
        <p:spPr>
          <a:xfrm>
            <a:off x="2761200" y="5760000"/>
            <a:ext cx="117600" cy="102200"/>
          </a:xfrm>
          <a:prstGeom prst="diamond">
            <a:avLst/>
          </a:prstGeom>
          <a:solidFill>
            <a:srgbClr val="B45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80000" y="5920600"/>
            <a:ext cx="1680000" cy="292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41C26"/>
                </a:solidFill>
                <a:latin typeface="Consolas"/>
              </a:rPr>
              <a:t>requirement_confirmed</a:t>
            </a:r>
          </a:p>
          <a:p>
            <a:pPr algn="ctr"/>
            <a:r>
              <a:rPr sz="700">
                <a:solidFill>
                  <a:srgbClr val="5B6676"/>
                </a:solidFill>
                <a:latin typeface="Arial"/>
              </a:rPr>
              <a:t>recorded after you confirm</a:t>
            </a:r>
          </a:p>
        </p:txBody>
      </p:sp>
      <p:sp>
        <p:nvSpPr>
          <p:cNvPr id="91" name="Diamond 90"/>
          <p:cNvSpPr/>
          <p:nvPr/>
        </p:nvSpPr>
        <p:spPr>
          <a:xfrm>
            <a:off x="4441200" y="5760000"/>
            <a:ext cx="117600" cy="102200"/>
          </a:xfrm>
          <a:prstGeom prst="diamond">
            <a:avLst/>
          </a:prstGeom>
          <a:solidFill>
            <a:srgbClr val="B45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60000" y="5920600"/>
            <a:ext cx="1680000" cy="292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41C26"/>
                </a:solidFill>
                <a:latin typeface="Consolas"/>
              </a:rPr>
              <a:t>plan_approved</a:t>
            </a:r>
          </a:p>
          <a:p>
            <a:pPr algn="ctr"/>
            <a:r>
              <a:rPr sz="700">
                <a:solidFill>
                  <a:srgbClr val="5B6676"/>
                </a:solidFill>
                <a:latin typeface="Arial"/>
              </a:rPr>
              <a:t>recorded after you approve</a:t>
            </a:r>
          </a:p>
        </p:txBody>
      </p:sp>
      <p:sp>
        <p:nvSpPr>
          <p:cNvPr id="93" name="Diamond 92"/>
          <p:cNvSpPr/>
          <p:nvPr/>
        </p:nvSpPr>
        <p:spPr>
          <a:xfrm>
            <a:off x="6121200" y="5760000"/>
            <a:ext cx="117600" cy="102200"/>
          </a:xfrm>
          <a:prstGeom prst="diamond">
            <a:avLst/>
          </a:prstGeom>
          <a:solidFill>
            <a:srgbClr val="2B5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40000" y="5920600"/>
            <a:ext cx="1680000" cy="292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41C26"/>
                </a:solidFill>
                <a:latin typeface="Consolas"/>
              </a:rPr>
              <a:t>orchestration_ready</a:t>
            </a:r>
          </a:p>
          <a:p>
            <a:pPr algn="ctr"/>
            <a:r>
              <a:rPr sz="700">
                <a:solidFill>
                  <a:srgbClr val="5B6676"/>
                </a:solidFill>
                <a:latin typeface="Arial"/>
              </a:rPr>
              <a:t>recorded by the agent</a:t>
            </a:r>
          </a:p>
        </p:txBody>
      </p:sp>
      <p:sp>
        <p:nvSpPr>
          <p:cNvPr id="95" name="Diamond 94"/>
          <p:cNvSpPr/>
          <p:nvPr/>
        </p:nvSpPr>
        <p:spPr>
          <a:xfrm>
            <a:off x="8305200" y="5760000"/>
            <a:ext cx="117600" cy="1022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24000" y="5920600"/>
            <a:ext cx="1680000" cy="292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41C26"/>
                </a:solidFill>
                <a:latin typeface="Consolas"/>
              </a:rPr>
              <a:t>implementation_complete</a:t>
            </a:r>
          </a:p>
          <a:p>
            <a:pPr algn="ctr"/>
            <a:r>
              <a:rPr sz="700">
                <a:solidFill>
                  <a:srgbClr val="5B6676"/>
                </a:solidFill>
                <a:latin typeface="Arial"/>
              </a:rPr>
              <a:t>derived: every track closed</a:t>
            </a:r>
          </a:p>
        </p:txBody>
      </p:sp>
      <p:sp>
        <p:nvSpPr>
          <p:cNvPr id="97" name="Diamond 96"/>
          <p:cNvSpPr/>
          <p:nvPr/>
        </p:nvSpPr>
        <p:spPr>
          <a:xfrm>
            <a:off x="10657200" y="5760000"/>
            <a:ext cx="117600" cy="1022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876000" y="5920600"/>
            <a:ext cx="1680000" cy="292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41C26"/>
                </a:solidFill>
                <a:latin typeface="Consolas"/>
              </a:rPr>
              <a:t>shipped</a:t>
            </a:r>
          </a:p>
          <a:p>
            <a:pPr algn="ctr"/>
            <a:r>
              <a:rPr sz="700">
                <a:solidFill>
                  <a:srgbClr val="5B6676"/>
                </a:solidFill>
                <a:latin typeface="Arial"/>
              </a:rPr>
              <a:t>derived: epic 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discuss → requirement_confirmed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Clarify intent before touching any code or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What the Agent Does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Runs /discuss &lt;requirement&gt; to explore existing architecture.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Asks clarifying questions one at a time, bounded by clarify.max_questions (default 8).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Proposes concrete architectural approaches with trade-offs.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Writes the confirmed design specification to .planning/specs/&lt;date&gt;-&lt;topic&gt;-design.md.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Human Confirmation &amp; Gate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The agent pauses and waits for your confirmation.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You confirm the chosen design and accepted scope.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Gate recorded: requirement_confirmed via gin-workflow record requirement-confirmed --evidence &lt;spec&gt; --actor &lt;id&gt;.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The stage stops immediately. It never advances to planning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BEADB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Process waiver: </a:t>
            </a:r>
            <a:r>
              <a:rPr sz="1050">
                <a:solidFill>
                  <a:srgbClr val="141C26"/>
                </a:solidFill>
                <a:latin typeface="Arial"/>
              </a:rPr>
              <a:t>requirement_confirmed may be waived by the agent with a stated reason.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plan → plan_approved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Structured decomposition into verifiable, test-first tracks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Track Decomposition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Runs /plan &lt;topic&gt; from the confirmed design spec.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Produces .planning/plans/&lt;date&gt;-&lt;feature&gt;.md with independent tracks.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Defines file scope, public interfaces, acceptance criteria, and test-first steps.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Assigns portable provider role (e.g. frontend, backend) and reasoning tier (low, medium, high).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Human Gate &amp; Approval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Tracks with a Human gate: field mark required manual intervention (credentials, production access, third-party approval).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Unattended runs automatically stop before human-gate tracks.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You review the strategy and approve the plan.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Gate recorded: plan_approved via record plan-approved --evidence &lt;plan&gt; --actor &lt;id&gt;.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Portable planning: </a:t>
            </a:r>
            <a:r>
              <a:rPr sz="1050">
                <a:solidFill>
                  <a:srgbClr val="141C26"/>
                </a:solidFill>
                <a:latin typeface="Arial"/>
              </a:rPr>
              <a:t>Plans never contain concrete model names, vendor IDs, or machine paths. Those are resolved locally during orchestration.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orchestrate → orchestration_ready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Instantiate durable tasks, workspace isolation, and execution routes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353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Task Hierarchy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Creates a Parent Bead (epic) representing the deliverable, and one Track Bead per plan track with technical acceptance criteria.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0000" y="1450000"/>
            <a:ext cx="353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Worktree Isolation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Creates an isolated git worktree for the feature, verifying clean test baselines before implementation begins.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0000" y="1450000"/>
            <a:ext cx="353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Route Resolution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Maps portable track roles and tiers to local provider execution configs, and prints the unattended /goal command.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4900000"/>
            <a:ext cx="11192000" cy="7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>
                <a:solidFill>
                  <a:srgbClr val="141C26"/>
                </a:solidFill>
                <a:latin typeface="Arial"/>
              </a:rPr>
              <a:t>Gate recorded: orchestration_ready via record orchestration-ready --epic &lt;epic&gt; --evidence &lt;ids; worktree; branch&gt; --actor &lt;id&gt;.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5800000"/>
            <a:ext cx="11192000" cy="4500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6"/>
                </a:solidFill>
                <a:latin typeface="Arial"/>
              </a:rPr>
              <a:t>Standalone beads can skip discuss and plan: record the bead directly as its own epic with description and acceptance criteria standing in for spec and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execute → implementation_complete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Test-first implementation and independent review per track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Execution Flow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Pick ready track: gin-workflow task ready and claim it.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Run gin-workflow rules --files &lt;scope&gt; and apply active rule packs.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Write failing test first, run it (red), implement solution, re-run test (green).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Keep command execution output as verifiable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Track Closure &amp; Derived Gate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Conduct independent code review in the review ledger.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Collect AI usage summary: gin-workflow usage collect --bead &lt;id&gt;.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Close track bead: unblocks dependent downstream tracks immediately.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Gate derived: implementation_complete is satisfied when every child track of the epic is closed.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BEADB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Not waivable: </a:t>
            </a:r>
            <a:r>
              <a:rPr sz="1050">
                <a:solidFill>
                  <a:srgbClr val="141C26"/>
                </a:solidFill>
                <a:latin typeface="Arial"/>
              </a:rPr>
              <a:t>implementation_complete is a derived fact, not a formality. It cannot be bypassed with a waiver.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Independent Review &amp; the Review Ledger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Bounded review cycles; the review ledger is recorded by commands and never hand-edited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30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Review Rules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Review runs inside execute per track; it is not a router stage.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Session or provider independence: fresh session or routed worker; self-review in the same session is forbidden.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Review ledger stored in .planning/reviews/&lt;bead&gt;/ (review.json and review.md).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Tracks reviewed snapshot on refs/gin/review/&lt;bead&gt;. Commits after review invalidate approval.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Bounded at routing.review.max_cycles. Findings must reach terminal statuses: verified, withdrawn, accepted-as-is, deferred-verified, human-waived.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00000" y="1450000"/>
            <a:ext cx="5592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4000" y="2004000"/>
            <a:ext cx="2016000" cy="51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41C26"/>
                </a:solidFill>
                <a:latin typeface="Consolas"/>
              </a:rPr>
              <a:t>implementation-in-progress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2000" y="2004000"/>
            <a:ext cx="1904000" cy="51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41C26"/>
                </a:solidFill>
                <a:latin typeface="Consolas"/>
              </a:rPr>
              <a:t>review-requested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2000" y="3296000"/>
            <a:ext cx="1904000" cy="51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41C26"/>
                </a:solidFill>
                <a:latin typeface="Consolas"/>
              </a:rPr>
              <a:t>review-in-progress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4000" y="3296000"/>
            <a:ext cx="2016000" cy="516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41C26"/>
                </a:solidFill>
                <a:latin typeface="Consolas"/>
              </a:rPr>
              <a:t>changes-requested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4000" y="4664000"/>
            <a:ext cx="2016000" cy="516800"/>
          </a:xfrm>
          <a:prstGeom prst="roundRect">
            <a:avLst/>
          </a:prstGeom>
          <a:solidFill>
            <a:srgbClr val="FBEADB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B4530B"/>
                </a:solidFill>
                <a:latin typeface="Consolas"/>
              </a:rPr>
              <a:t>blocked-human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2000" y="4664000"/>
            <a:ext cx="1904000" cy="516800"/>
          </a:xfrm>
          <a:prstGeom prst="roundRect">
            <a:avLst/>
          </a:prstGeom>
          <a:solidFill>
            <a:srgbClr val="EEF1F4"/>
          </a:solidFill>
          <a:ln w="2540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141C26"/>
                </a:solidFill>
                <a:latin typeface="Consolas"/>
              </a:rPr>
              <a:t>review-approved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60000" y="2262400"/>
            <a:ext cx="582400" cy="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43600" y="2004000"/>
            <a:ext cx="3048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00">
                <a:solidFill>
                  <a:srgbClr val="5B6676"/>
                </a:solidFill>
                <a:latin typeface="Arial"/>
              </a:rPr>
              <a:t>worker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84000" y="2520800"/>
            <a:ext cx="0" cy="6536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40000" y="2794400"/>
            <a:ext cx="4064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5B6676"/>
                </a:solidFill>
                <a:latin typeface="Arial"/>
              </a:rPr>
              <a:t>reviewer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649600" y="3554400"/>
            <a:ext cx="582400" cy="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7600" y="3296000"/>
            <a:ext cx="4064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00">
                <a:solidFill>
                  <a:srgbClr val="5B6676"/>
                </a:solidFill>
                <a:latin typeface="Arial"/>
              </a:rPr>
              <a:t>findings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552000" y="2642400"/>
            <a:ext cx="0" cy="6536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08000" y="2900800"/>
            <a:ext cx="1524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5B6676"/>
                </a:solidFill>
                <a:latin typeface="Arial"/>
              </a:rPr>
              <a:t>fix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84000" y="3812800"/>
            <a:ext cx="0" cy="729600"/>
          </a:xfrm>
          <a:prstGeom prst="line">
            <a:avLst/>
          </a:prstGeom>
          <a:ln w="1524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0000" y="4101600"/>
            <a:ext cx="6096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5B6676"/>
                </a:solidFill>
                <a:latin typeface="Arial"/>
              </a:rPr>
              <a:t>all terminal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336000" y="3812800"/>
            <a:ext cx="1120000" cy="851200"/>
          </a:xfrm>
          <a:prstGeom prst="line">
            <a:avLst/>
          </a:prstGeom>
          <a:ln w="15240">
            <a:solidFill>
              <a:srgbClr val="B4530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64000" y="4147200"/>
            <a:ext cx="4064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B4530B"/>
                </a:solidFill>
                <a:latin typeface="Arial"/>
              </a:rPr>
              <a:t>escalate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552000" y="3934400"/>
            <a:ext cx="0" cy="729600"/>
          </a:xfrm>
          <a:prstGeom prst="line">
            <a:avLst/>
          </a:prstGeom>
          <a:ln w="15240">
            <a:solidFill>
              <a:srgbClr val="B4530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08000" y="4253600"/>
            <a:ext cx="254000" cy="182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B4530B"/>
                </a:solidFill>
                <a:latin typeface="Arial"/>
              </a:rPr>
              <a:t>human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Evidence Over Self-Assessment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No self-certification: every claim demands observable verification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0000" y="1450000"/>
          <a:ext cx="11192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00"/>
                <a:gridCol w="5036400"/>
                <a:gridCol w="3357600"/>
              </a:tblGrid>
              <a:tr h="600000">
                <a:tc>
                  <a:txBody>
                    <a:bodyPr lIns="140000" rIns="140000" tIns="100000" bIns="100000"/>
                    <a:lstStyle/>
                    <a:p>
                      <a:r>
                        <a:rPr sz="1100" b="1">
                          <a:solidFill>
                            <a:srgbClr val="141C26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100000" bIns="100000"/>
                    <a:lstStyle/>
                    <a:p>
                      <a:r>
                        <a:rPr sz="1100" b="1">
                          <a:solidFill>
                            <a:srgbClr val="141C26"/>
                          </a:solidFill>
                          <a:latin typeface="Arial"/>
                        </a:rPr>
                        <a:t>Requires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100000" bIns="100000"/>
                    <a:lstStyle/>
                    <a:p>
                      <a:r>
                        <a:rPr sz="1100" b="1">
                          <a:solidFill>
                            <a:srgbClr val="141C26"/>
                          </a:solidFill>
                          <a:latin typeface="Arial"/>
                        </a:rPr>
                        <a:t>Not enough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Tests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test output with 0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an earlier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Bug fixed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the original symptom's test passes, red then green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code changed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600000"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Agent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the diff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the agent says 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Requirements met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the checklist checked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tests passing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600000"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Waiting for PR merge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a pushed branch and a real PR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40000" rIns="140000" tIns="80000" bIns="80000"/>
                    <a:lstStyle/>
                    <a:p>
                      <a:r>
                        <a:rPr sz="1050">
                          <a:solidFill>
                            <a:srgbClr val="141C26"/>
                          </a:solidFill>
                          <a:latin typeface="Arial"/>
                        </a:rPr>
                        <a:t>uncommitted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Handoff rule: </a:t>
            </a:r>
            <a:r>
              <a:rPr sz="1050">
                <a:solidFill>
                  <a:srgbClr val="141C26"/>
                </a:solidFill>
                <a:latin typeface="Arial"/>
              </a:rPr>
              <a:t>Agents must report what changed, what was validated, what was waived with reasons, bead statuses, remaining risks, and next commands.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Quality Gates in Git Hooks by Rigor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Zero-token automated verification runs directly in your git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Hooks Architecture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pre-commit: Runs lint and typecheck from verify.checks.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pre-push: Runs test, plus build at standard rigor and e2e at strict rigor. Stops on first failure.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CI: The backstop for large projects: nothing in ship proves a hook ran.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0000" rIns="160000" tIns="140000"/>
          <a:lstStyle/>
          <a:p>
            <a:pPr algn="ctr"/>
            <a:r>
              <a:rPr sz="1300" b="1">
                <a:solidFill>
                  <a:srgbClr val="141C26"/>
                </a:solidFill>
                <a:latin typeface="Arial"/>
              </a:rPr>
              <a:t>Rigor Presets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12000" y="2050000"/>
          <a:ext cx="512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000"/>
                <a:gridCol w="1024000"/>
                <a:gridCol w="1024000"/>
                <a:gridCol w="1024000"/>
                <a:gridCol w="1024000"/>
              </a:tblGrid>
              <a:tr h="650000"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1000" b="1">
                          <a:solidFill>
                            <a:srgbClr val="141C26"/>
                          </a:solidFill>
                          <a:latin typeface="Arial"/>
                        </a:rPr>
                        <a:t>Rigor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1000" b="1">
                          <a:solidFill>
                            <a:srgbClr val="141C26"/>
                          </a:solidFill>
                          <a:latin typeface="Arial"/>
                        </a:rPr>
                        <a:t>Worktree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1000" b="1">
                          <a:solidFill>
                            <a:srgbClr val="141C26"/>
                          </a:solidFill>
                          <a:latin typeface="Arial"/>
                        </a:rPr>
                        <a:t>Review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1000" b="1">
                          <a:solidFill>
                            <a:srgbClr val="141C26"/>
                          </a:solidFill>
                          <a:latin typeface="Arial"/>
                        </a:rPr>
                        <a:t>Ledger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1000" b="1">
                          <a:solidFill>
                            <a:srgbClr val="141C26"/>
                          </a:solidFill>
                          <a:latin typeface="Arial"/>
                        </a:rPr>
                        <a:t>/quick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650000"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Consolas"/>
                        </a:rPr>
                        <a:t>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never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self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Consolas"/>
                        </a:rPr>
                        <a:t>standard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parallel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independent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allowed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650000"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Consolas"/>
                        </a:rP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always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independent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60000" bIns="60000"/>
                    <a:lstStyle/>
                    <a:p>
                      <a:pPr algn="ctr"/>
                      <a:r>
                        <a:rPr sz="950">
                          <a:solidFill>
                            <a:srgbClr val="141C26"/>
                          </a:solidFill>
                          <a:latin typeface="Arial"/>
                        </a:rPr>
                        <a:t>needs waiver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BEADB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>
                <a:solidFill>
                  <a:srgbClr val="141C26"/>
                </a:solidFill>
                <a:latin typeface="Arial"/>
              </a:rPr>
              <a:t>ship verifies that ledger validation exits cleanly and no code was touched after the latest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ship → shipped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Four explicit integration options; nothing merges without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Pre-Ship Verifications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Requires derived implementation_complete gate.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Validates review ledgers in history (--in-history).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Nothing but spec and review artifacts changed after the newest approval.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In SDD mode: runs specs lint and specs trace.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The Four Integration Choices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1. </a:t>
            </a:r>
            <a:r>
              <a:rPr sz="1000">
                <a:solidFill>
                  <a:srgbClr val="141C26"/>
                </a:solidFill>
                <a:latin typeface="Arial"/>
              </a:rPr>
              <a:t>Merge locally: merges feature branch into base.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2. </a:t>
            </a:r>
            <a:r>
              <a:rPr sz="1000">
                <a:solidFill>
                  <a:srgbClr val="141C26"/>
                </a:solidFill>
                <a:latin typeface="Arial"/>
              </a:rPr>
              <a:t>Push &amp; open PR: pushes branch and presents PR link.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3. </a:t>
            </a:r>
            <a:r>
              <a:rPr sz="1000">
                <a:solidFill>
                  <a:srgbClr val="141C26"/>
                </a:solidFill>
                <a:latin typeface="Arial"/>
              </a:rPr>
              <a:t>Keep branch: preserves worktree and branch for later.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4. </a:t>
            </a:r>
            <a:r>
              <a:rPr sz="1000">
                <a:solidFill>
                  <a:srgbClr val="141C26"/>
                </a:solidFill>
                <a:latin typeface="Arial"/>
              </a:rPr>
              <a:t>Discard: removes branch and worktree (typed confirmation).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4850000"/>
            <a:ext cx="11192000" cy="680000"/>
          </a:xfrm>
          <a:prstGeom prst="rect">
            <a:avLst/>
          </a:prstGeom>
          <a:solidFill>
            <a:srgbClr val="FBEADB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Explicit Human Approval: </a:t>
            </a:r>
            <a:r>
              <a:rPr sz="1050">
                <a:solidFill>
                  <a:srgbClr val="141C26"/>
                </a:solidFill>
                <a:latin typeface="Arial"/>
              </a:rPr>
              <a:t>Merging locally, opening a pull request, or force-pushing each require explicit human authorization before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5650000"/>
            <a:ext cx="11192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Gate derived: </a:t>
            </a:r>
            <a:r>
              <a:rPr sz="1050">
                <a:solidFill>
                  <a:srgbClr val="141C26"/>
                </a:solidFill>
                <a:latin typeface="Arial"/>
              </a:rPr>
              <a:t>shipped is recorded upon closing the epic after merge, followed by worktree and review ledger cleanup.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Worktree Isolation &amp; Task Tracking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Clean working directories and durable state ownership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Worktree Isolation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Prevents agents from dirtying your primary working directory or index.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Harness native tool preferred first; falls back to git worktrees under .planning/worktrees/&lt;track&gt;.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Detects existing worktrees: never nests worktree inside worktree.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Verifies project test baseline before beginning changes.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Worktree paths and branch names are disposable runtime metadata.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Task Tracking Ownership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gin-workflow task owns status, priority, assignments, claims, blockers, and dependencies.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Markdown backend by default (.planning/tasks/): git-ignored and local to this machine, needs no bd.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Beads (bd) backend: durable task graph, cross-repo dependency tracking.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All commands query tasks to discover ready work (gin-workflow task ready).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Knowledge Capture &amp; Rule Packs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Accumulating project context and enforcing engineering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Durable Project Knowledge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Captured during execute in .planning/knowledge/&lt;topic&gt;.md.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Stores reusable insights: compatibility constraints, counterintuitive APIs, environment limits, architecture decisions.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Never stores transient session thoughts or routine code steps.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Reconciled during ship before closing beads.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Automated Rule Packs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Injected into agent context based on files in scope (gin-workflow rules --files &lt;scope&gt;).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Core packs: core (boundaries, error handling, validation) and lean (reuse first, no speculative code, minimal diff).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Language and framework packs: typescript, python, react, nextjs, fastapi, node-api.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Review grades findings by rule impact (critical, high, medium).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Variations: /quick, SDD &amp; Team Mode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Adaptable to small fixes, living specifications, or multi-member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353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The Quick Path (/quick)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Fast-track for small, low-risk changes (up to 5 files in one module). Skips specs, plans, and beads. Runs rigor verification and review. Never auto-commits.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0000" y="1450000"/>
            <a:ext cx="353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SDD Living Specs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The SDD layout keeps living specs in docs/specs/ and proposed changes in docs/changes/, with numbered requirements (REQ-&lt;CAP&gt;-&lt;NNN&gt;) that tests and beads point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0000" y="1450000"/>
            <a:ext cx="353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Team Mode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Opt-in collaboration with member roles, code ownership areas, and gates proven by approved pull requests (e.g. BA confirms spec, Area Lead approves plan, QE approves ship).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5300000"/>
            <a:ext cx="11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80000" bIns="80000"/>
          <a:lstStyle/>
          <a:p>
            <a:pPr algn="ctr"/>
            <a:r>
              <a:rPr sz="1050" b="1">
                <a:solidFill>
                  <a:srgbClr val="141C26"/>
                </a:solidFill>
                <a:latin typeface="Arial"/>
              </a:rPr>
              <a:t>Configuration driven: </a:t>
            </a:r>
            <a:r>
              <a:rPr sz="1050">
                <a:solidFill>
                  <a:srgbClr val="141C26"/>
                </a:solidFill>
                <a:latin typeface="Arial"/>
              </a:rPr>
              <a:t>Layout switches via artifacts.layout: sdd; team mode enables via team: in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Running Unattended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Bounded goal execution, human-gate boundaries, and notifications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Bounded /goal Execution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gin-workflow goal --workflow-id &lt;id&gt; prints a goal in dependency order.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The goal covers only tracks the agent can finish, leaving out human-gate tracks and their dependents.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Allows 6 turns per track up to 30.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Prints a No goal: line when no track is left.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2000" y="1450000"/>
            <a:ext cx="544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Safety Boundaries &amp; Notifications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Human Gate: Tracks marked with Human gate: and their dependents are excluded from unattended execution.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Notifications: gin-workflow notify --event &lt;event&gt; "&lt;msg&gt;" supports needs_input, run_finished, worker_finished, worker_failed.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Notifications are off unless notifications.telegram is true.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5B6676"/>
                </a:solidFill>
                <a:latin typeface="Arial"/>
              </a:rPr>
              <a:t>• </a:t>
            </a:r>
            <a:r>
              <a:rPr sz="1000">
                <a:solidFill>
                  <a:srgbClr val="141C26"/>
                </a:solidFill>
                <a:latin typeface="Arial"/>
              </a:rPr>
              <a:t>A message is never approval.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Product Family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Core lifecycle workflow and optional specialized extensions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67000" y="3990000"/>
            <a:ext cx="3876000" cy="15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80000" bIns="800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B55C7"/>
                </a:solidFill>
                <a:latin typeface="Arial"/>
              </a:rPr>
              <a:t>gin-workflow (core)</a:t>
            </a:r>
          </a:p>
          <a:p>
            <a:pPr algn="ctr"/>
            <a:r>
              <a:rPr sz="950">
                <a:solidFill>
                  <a:srgbClr val="141C26"/>
                </a:solidFill>
                <a:latin typeface="Arial"/>
              </a:rPr>
              <a:t>Lifecycle stages, gates, rule packs,</a:t>
            </a:r>
          </a:p>
          <a:p>
            <a:pPr algn="ctr"/>
            <a:r>
              <a:rPr sz="950">
                <a:solidFill>
                  <a:srgbClr val="5B6676"/>
                </a:solidFill>
                <a:latin typeface="Arial"/>
              </a:rPr>
              <a:t>task tracking, git hooks &amp; state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5000" y="3990000"/>
            <a:ext cx="3876000" cy="1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80000" bIns="800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gin-orchestrator (extension)</a:t>
            </a:r>
          </a:p>
          <a:p>
            <a:pPr algn="ctr"/>
            <a:r>
              <a:rPr sz="950">
                <a:solidFill>
                  <a:srgbClr val="141C26"/>
                </a:solidFill>
                <a:latin typeface="Arial"/>
              </a:rPr>
              <a:t>Worker routing, circuit breakers,</a:t>
            </a:r>
          </a:p>
          <a:p>
            <a:pPr algn="ctr"/>
            <a:r>
              <a:rPr sz="950">
                <a:solidFill>
                  <a:srgbClr val="5B6676"/>
                </a:solidFill>
                <a:latin typeface="Arial"/>
              </a:rPr>
              <a:t>multi-harness dispatch &amp; independent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7000" y="2030000"/>
            <a:ext cx="3876000" cy="12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80000" bIns="800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gin-qa (add-on)</a:t>
            </a:r>
          </a:p>
          <a:p>
            <a:pPr algn="ctr"/>
            <a:r>
              <a:rPr sz="950">
                <a:solidFill>
                  <a:srgbClr val="141C26"/>
                </a:solidFill>
                <a:latin typeface="Arial"/>
              </a:rPr>
              <a:t>Test cases from specs &amp; Playwright e2e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5000" y="2030000"/>
            <a:ext cx="3876000" cy="12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80000" bIns="800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B4530B"/>
                </a:solidFill>
                <a:latin typeface="Arial"/>
              </a:rPr>
              <a:t>gin-console</a:t>
            </a:r>
          </a:p>
          <a:p>
            <a:pPr algn="ctr"/>
            <a:r>
              <a:rPr sz="950">
                <a:solidFill>
                  <a:srgbClr val="141C26"/>
                </a:solidFill>
                <a:latin typeface="Arial"/>
              </a:rPr>
              <a:t>requires gin-workflow and gin-orchestrator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779800" y="4760000"/>
            <a:ext cx="775200" cy="0"/>
          </a:xfrm>
          <a:prstGeom prst="line">
            <a:avLst/>
          </a:prstGeom>
          <a:ln w="1905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67088" y="4480000"/>
            <a:ext cx="377825" cy="224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5B6676"/>
                </a:solidFill>
                <a:latin typeface="Consolas"/>
              </a:rPr>
              <a:t>extends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5000" y="3290000"/>
            <a:ext cx="0" cy="532000"/>
          </a:xfrm>
          <a:prstGeom prst="line">
            <a:avLst/>
          </a:prstGeom>
          <a:ln w="1905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76000" y="3500000"/>
            <a:ext cx="431800" cy="224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50">
                <a:solidFill>
                  <a:srgbClr val="5B6676"/>
                </a:solidFill>
                <a:latin typeface="Consolas"/>
              </a:rPr>
              <a:t>requires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93000" y="3290000"/>
            <a:ext cx="0" cy="532000"/>
          </a:xfrm>
          <a:prstGeom prst="line">
            <a:avLst/>
          </a:prstGeom>
          <a:ln w="1905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64000" y="3500000"/>
            <a:ext cx="431800" cy="224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50">
                <a:solidFill>
                  <a:srgbClr val="5B6676"/>
                </a:solidFill>
                <a:latin typeface="Consolas"/>
              </a:rPr>
              <a:t>requires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301000" y="3290000"/>
            <a:ext cx="1710000" cy="588000"/>
          </a:xfrm>
          <a:prstGeom prst="line">
            <a:avLst/>
          </a:prstGeom>
          <a:ln w="19050">
            <a:solidFill>
              <a:srgbClr val="141C2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2100" y="3360000"/>
            <a:ext cx="431800" cy="224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50">
                <a:solidFill>
                  <a:srgbClr val="5B6676"/>
                </a:solidFill>
                <a:latin typeface="Consolas"/>
              </a:rPr>
              <a:t>requires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50000"/>
            <a:ext cx="11192000" cy="95000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41C26"/>
                </a:solidFill>
                <a:latin typeface="Arial"/>
              </a:rPr>
              <a:t>Getting Started</a:t>
            </a:r>
          </a:p>
          <a:p>
            <a:r>
              <a:rPr sz="1200">
                <a:solidFill>
                  <a:srgbClr val="5B6676"/>
                </a:solidFill>
                <a:latin typeface="Arial"/>
              </a:rPr>
              <a:t>Set up your repository and run your first change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One-Time Setup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141C26"/>
                </a:solidFill>
                <a:latin typeface="Arial"/>
              </a:rPr>
              <a:t>Run setup to initialize configuration and git hooks: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" y="2400000"/>
            <a:ext cx="5120000" cy="4800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ctr"/>
            <a:r>
              <a:rPr sz="1200" b="1">
                <a:solidFill>
                  <a:srgbClr val="141C26"/>
                </a:solidFill>
                <a:latin typeface="Consolas"/>
              </a:rPr>
              <a:t>/setup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" y="3000000"/>
            <a:ext cx="5120000" cy="12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41C26"/>
                </a:solidFill>
                <a:latin typeface="Arial"/>
              </a:rPr>
              <a:t>Configures project shape, detects verification commands, and installs pre-commit / pre-push hooks.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2000" y="1450000"/>
            <a:ext cx="544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0000" rIns="160000" tIns="140000" bIns="140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41C26"/>
                </a:solidFill>
                <a:latin typeface="Arial"/>
              </a:rPr>
              <a:t>First Feature Lifecycle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1. </a:t>
            </a:r>
            <a:r>
              <a:rPr sz="1000">
                <a:solidFill>
                  <a:srgbClr val="141C26"/>
                </a:solidFill>
                <a:latin typeface="Arial"/>
              </a:rPr>
              <a:t>/discuss &lt;idea&gt;: clarify requirements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2. </a:t>
            </a:r>
            <a:r>
              <a:rPr sz="1000">
                <a:solidFill>
                  <a:srgbClr val="141C26"/>
                </a:solidFill>
                <a:latin typeface="Arial"/>
              </a:rPr>
              <a:t>/plan &lt;topic&gt;: write test-first plan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3. </a:t>
            </a:r>
            <a:r>
              <a:rPr sz="1000">
                <a:solidFill>
                  <a:srgbClr val="141C26"/>
                </a:solidFill>
                <a:latin typeface="Arial"/>
              </a:rPr>
              <a:t>/orchestrate &lt;plan&gt;: setup tasks and worktree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4. </a:t>
            </a:r>
            <a:r>
              <a:rPr sz="1000">
                <a:solidFill>
                  <a:srgbClr val="141C26"/>
                </a:solidFill>
                <a:latin typeface="Arial"/>
              </a:rPr>
              <a:t>/execute: implement and review tracks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41C26"/>
                </a:solidFill>
                <a:latin typeface="Arial"/>
              </a:rPr>
              <a:t>5. </a:t>
            </a:r>
            <a:r>
              <a:rPr sz="1000">
                <a:solidFill>
                  <a:srgbClr val="141C26"/>
                </a:solidFill>
                <a:latin typeface="Arial"/>
              </a:rPr>
              <a:t>/ship: choose integration and merge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5250000"/>
            <a:ext cx="11192000" cy="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12000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1C26"/>
                </a:solidFill>
                <a:latin typeface="Arial"/>
              </a:rPr>
              <a:t>Documentation &amp; References</a:t>
            </a:r>
          </a:p>
          <a:p>
            <a:r>
              <a:rPr sz="1000">
                <a:solidFill>
                  <a:srgbClr val="141C26"/>
                </a:solidFill>
                <a:latin typeface="Arial"/>
              </a:rPr>
              <a:t>Quick start: </a:t>
            </a:r>
            <a:r>
              <a:rPr sz="1000">
                <a:solidFill>
                  <a:srgbClr val="2B55C7"/>
                </a:solidFill>
                <a:latin typeface="Consolas"/>
              </a:rPr>
              <a:t>docs/getting-started.md</a:t>
            </a:r>
            <a:r>
              <a:rPr sz="1000">
                <a:solidFill>
                  <a:srgbClr val="141C26"/>
                </a:solidFill>
                <a:latin typeface="Arial"/>
              </a:rPr>
              <a:t> · Canonical lifecycle: </a:t>
            </a:r>
            <a:r>
              <a:rPr sz="1000">
                <a:solidFill>
                  <a:srgbClr val="2B55C7"/>
                </a:solidFill>
                <a:latin typeface="Consolas"/>
              </a:rPr>
              <a:t>docs/concepts/lifecycle.md</a:t>
            </a:r>
            <a:r>
              <a:rPr sz="1000">
                <a:solidFill>
                  <a:srgbClr val="141C26"/>
                </a:solidFill>
                <a:latin typeface="Arial"/>
              </a:rPr>
              <a:t> · CLI reference: </a:t>
            </a:r>
            <a:r>
              <a:rPr sz="1000">
                <a:solidFill>
                  <a:srgbClr val="2B55C7"/>
                </a:solidFill>
                <a:latin typeface="Consolas"/>
              </a:rPr>
              <a:t>docs/reference/cli.md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Development Lifecycle</dc:title>
  <dc:subject>gin-workflow 2.1</dc:subject>
  <dc:creator>gin-workflow</dc:creator>
  <cp:keywords/>
  <dc:description/>
  <cp:lastModifiedBy>gin-workflow</cp:lastModifiedBy>
  <cp:revision>1</cp:revision>
  <dcterms:created xsi:type="dcterms:W3CDTF">2026-10-23T00:00:00Z</dcterms:created>
  <dcterms:modified xsi:type="dcterms:W3CDTF">2026-10-23T00:00:00Z</dcterms:modified>
  <cp:category/>
  <cp:lastPrinted>2026-10-23T00:00:00Z</cp:lastPrinted>
</cp:coreProperties>
</file>
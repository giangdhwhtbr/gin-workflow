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đây là hướng dẫn vận hành end-to-end để hiện đại hoá hệ thống brownfield bằng gin-workflow và SDD (Spec-Driven Development), từ khâu khám phá hệ thống legacy đến giao hàng tăng dần.</a:t>
            </a:r>
          </a:p>
          <a:p/>
          <a:p>
            <a:r>
              <a:t>Ba trụ cột:</a:t>
            </a:r>
          </a:p>
          <a:p>
            <a:r>
              <a:t>- Evidence Discovery: phân tích codebase tự động, thay cho việc dựa vào "kiến thức truyền miệng".</a:t>
            </a:r>
          </a:p>
          <a:p>
            <a:r>
              <a:t>- Contract-First SDD: spec (spec.md) là hợp đồng sống, được xác nhận qua pull request trước khi viết code.</a:t>
            </a:r>
          </a:p>
          <a:p>
            <a:r>
              <a:t>- Gated Execution: mỗi track làm trong Git worktree riêng, làm theo TDD, có review độc lập ghi vào review ledger và audit trace tự động trước khi 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Vấn đề của hệ thống legacy là "khoảng trống tri thức":</a:t>
            </a:r>
          </a:p>
          <a:p>
            <a:r>
              <a:t>- Người viết ban đầu đã rời đi; business rule chỉ còn nằm trong code.</a:t>
            </a:r>
          </a:p>
          <a:p>
            <a:r>
              <a:t>- Wiki, README, sơ đồ chậm hơn production nhiều năm.</a:t>
            </a:r>
          </a:p>
          <a:p>
            <a:r>
              <a:t>- Có nhiều thứ ẩn: database trigger ngầm, endpoint không có tài liệu, các lời gọi chằng chịt.</a:t>
            </a:r>
          </a:p>
          <a:p/>
          <a:p>
            <a:r>
              <a:t>/tech-doc giải quyết bằng bằng chứng:</a:t>
            </a:r>
          </a:p>
          <a:p>
            <a:r>
              <a:t>- Quét trực tiếp cây code, database schema và API handler.</a:t>
            </a:r>
          </a:p>
          <a:p>
            <a:r>
              <a:t>- Xuất ra 10 module có cấu trúc trong docs/codebase/, ví dụ ARCHITECTURE.md, API.md, STACK.md, STRUCTURE.md.</a:t>
            </a:r>
          </a:p>
          <a:p>
            <a:r>
              <a:t>- Mọi kết luận kiến trúc đều trích dẫn đúng file và dòng, không suy đoán.</a:t>
            </a:r>
          </a:p>
          <a:p/>
          <a:p>
            <a:r>
              <a:t>Kết quả: một baseline có thể kiểm chứng, làm trong vài giờ thay vì vài tuần, dùng làm đầu vào cho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Sắp xếp roadmap theo phụ thuộc:</a:t>
            </a:r>
          </a:p>
          <a:p>
            <a:r>
              <a:t>- Output của /tech-doc cho thấy call graph và phụ thuộc dữ liệu giữa các module legacy.</a:t>
            </a:r>
          </a:p>
          <a:p>
            <a:r>
              <a:t>- Ưu tiên các module không có hoặc có rất ít phụ thuộc upstream, để không bị kẹt về kiến trúc.</a:t>
            </a:r>
          </a:p>
          <a:p>
            <a:r>
              <a:t>- Đầu tư vào spec là xứng đáng: code trên spec chưa xác nhận sẽ gây rework lớn về sau.</a:t>
            </a:r>
          </a:p>
          <a:p/>
          <a:p>
            <a:r>
              <a:t>Hai luồng chạy song song, không ai phải ngồi chờ:</a:t>
            </a:r>
          </a:p>
          <a:p>
            <a:r>
              <a:t>- Engineering: chạy ổn định app legacy trong Docker, dựng repo backend/frontend mới, thiết lập CI/CD và reverse proxy.</a:t>
            </a:r>
          </a:p>
          <a:p>
            <a:r>
              <a:t>- BA: tập trung vào business logic, edge case và acceptance scenario cho module đầu tiên không bị chặn.</a:t>
            </a:r>
          </a:p>
          <a:p/>
          <a:p>
            <a:r>
              <a:t>Mốc theo sprint:</a:t>
            </a:r>
          </a:p>
          <a:p>
            <a:r>
              <a:t>- Sprint 1: môi trường dev chạy được và một spec đã xác nhận, sẵn sàng triển khai.</a:t>
            </a:r>
          </a:p>
          <a:p>
            <a:r>
              <a:t>- Sprint 2: vertical slice hiện đại đầu tiên được ship sau facade; spec tiếp theo đã sẵn sàng.</a:t>
            </a:r>
          </a:p>
          <a:p>
            <a:r>
              <a:t>- Sprint 3 trở đi: giao hàng liên tục, có regression test bảo vệ, dần loại bỏ các đường code legacy đã được thay thế (strangler pattern).</a:t>
            </a:r>
          </a:p>
          <a:p/>
          <a:p>
            <a:r>
              <a:t>Nhấn mạnh quy tắc: không bắt đầu code khi spec chưa được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swim-lane cho thấy ai làm gì ở từng stage: discuss, plan, orchestrate, execute (theo từng track) và ship. Hàng dưới cùng là gate đóng mỗi stage.</a:t>
            </a:r>
          </a:p>
          <a:p/>
          <a:p>
            <a:r>
              <a:t>Các làn:</a:t>
            </a:r>
          </a:p>
          <a:p>
            <a:r>
              <a:t>- Con người: Requester (BA/PM), Area lead (sở hữu vùng code), Developer (chạy các stage), Ship approver (trong team mode, ví dụ QE).</a:t>
            </a:r>
          </a:p>
          <a:p>
            <a:r>
              <a:t>- Agent: Main agent (phiên làm việc của bạn), Worker (gin-orchestrator, tuỳ chọn), Reviewer (phiên hoặc provider độc lập).</a:t>
            </a:r>
          </a:p>
          <a:p>
            <a:r>
              <a:t>- Tự động hoá: git hooks và CI, mức kiểm tra tuỳ theo rigor.</a:t>
            </a:r>
          </a:p>
          <a:p/>
          <a:p>
            <a:r>
              <a:t>Đi theo từng stage:</a:t>
            </a:r>
          </a:p>
          <a:p>
            <a:r>
              <a:t>- discuss: agent hỏi, đề xuất và viết spec; BA/PM xác nhận spec → gate requirement_confirmed.</a:t>
            </a:r>
          </a:p>
          <a:p>
            <a:r>
              <a:t>- plan: agent viết plan gồm các track, vai trò và mức reasoning; area lead duyệt → gate plan_approved.</a:t>
            </a:r>
          </a:p>
          <a:p>
            <a:r>
              <a:t>- orchestrate: agent tạo epic, track bead, route và worktree → gate orchestration_ready.</a:t>
            </a:r>
          </a:p>
          <a:p>
            <a:r>
              <a:t>- execute: với mỗi track, agent nhận track và viết test trước; worker có thể triển khai track được route; reviewer ghi review ledger với số vòng giới hạn; agent sửa findings rồi đóng track. Track cần con người thì developer làm. pre-commit chạy lint và typecheck; pre-push chạy test, build, e2e. Gate implementation_complete tự suy ra khi mọi track đã đóng.</a:t>
            </a:r>
          </a:p>
          <a:p>
            <a:r>
              <a:t>- ship: developer chọn merge, mở PR, giữ lại hoặc huỷ; ship approver duyệt PR; agent kiểm tra ledger, merge và dọn dẹp → gate shipped.</a:t>
            </a:r>
          </a:p>
          <a:p/>
          <a:p>
            <a:r>
              <a:t>Đường nét cam là chỗ agent phải dừng chờ con người.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 do AI soạn được kiểm chứng qua ba lớp:</a:t>
            </a:r>
          </a:p>
          <a:p/>
          <a:p>
            <a:r>
              <a:t>1. Ngữ pháp chặt chẽ:</a:t>
            </a:r>
          </a:p>
          <a:p>
            <a:r>
              <a:t>- Cú pháp EARS: mỗi requirement phải nêu rõ điều kiện bằng SHALL hoặc MUST.</a:t>
            </a:r>
          </a:p>
          <a:p>
            <a:r>
              <a:t>- Mỗi requirement cần ít nhất một scenario GIVEN / WHEN / THEN cụ thể.</a:t>
            </a:r>
          </a:p>
          <a:p>
            <a:r>
              <a:t>- specs lint báo lỗi ngay nếu thiếu cú pháp hoặc thiếu scenario.</a:t>
            </a:r>
          </a:p>
          <a:p/>
          <a:p>
            <a:r>
              <a:t>2. Cổng PR do con người duyệt:</a:t>
            </a:r>
          </a:p>
          <a:p>
            <a:r>
              <a:t>- Thay đổi spec được đề xuất trên nhánh spec/&lt;epic&gt; và gửi thành pull request.</a:t>
            </a:r>
          </a:p>
          <a:p>
            <a:r>
              <a:t>- Gate requirement-confirmed yêu cầu BA duyệt trên GitHub/GitLab.</a:t>
            </a:r>
          </a:p>
          <a:p>
            <a:r>
              <a:t>- Chưa merge spec PR thì chưa được lập kế hoạch hay viết code.</a:t>
            </a:r>
          </a:p>
          <a:p/>
          <a:p>
            <a:r>
              <a:t>3. Bám vào giao diện thật:</a:t>
            </a:r>
          </a:p>
          <a:p>
            <a:r>
              <a:t>- BA lưu ảnh chụp màn hình vào docs/specs/&lt;cap&gt;/assets/.</a:t>
            </a:r>
          </a:p>
          <a:p>
            <a:r>
              <a:t>- Agent đọc wireframe để rút ra các trường nhập liệu, quy tắc validate và trạng thái lỗi, rồi liên kết ảnh vào spec.</a:t>
            </a:r>
          </a:p>
          <a:p/>
          <a:p>
            <a:r>
              <a:t>Thông điệp chính: agent soạn và cấu trúc requirement, còn BA là người duy nhất có quyền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và 3: Plan và Orchestrate.</a:t>
            </a:r>
          </a:p>
          <a:p/>
          <a:p>
            <a:r>
              <a:t>Track có giới hạn:</a:t>
            </a:r>
          </a:p>
          <a:p>
            <a:r>
              <a:t>- Mỗi track trong plan.md gắn với một thư mục, ví dụ Area: modern_api hoặc Area: legacy_core.</a:t>
            </a:r>
          </a:p>
          <a:p>
            <a:r>
              <a:t>- Mọi chỉnh sửa ngoài Area đã khai báo đều bị từ chối.</a:t>
            </a:r>
          </a:p>
          <a:p>
            <a:r>
              <a:t>- Mỗi track ánh xạ tới requirement cụ thể, ví dụ Requirements: REQ-AUTH-001.</a:t>
            </a:r>
          </a:p>
          <a:p/>
          <a:p>
            <a:r>
              <a:t>Cô lập bằng worktree:</a:t>
            </a:r>
          </a:p>
          <a:p>
            <a:r>
              <a:t>- /orchestrate tạo một Git worktree riêng dưới .planning/worktrees/ cho từng track.</a:t>
            </a:r>
          </a:p>
          <a:p>
            <a:r>
              <a:t>- Nhiều developer và nhiều agent có thể build, test song song mà không tranh chấp nhánh.</a:t>
            </a:r>
          </a:p>
          <a:p>
            <a:r>
              <a:t>- Khi PR upstream được merge, các track downstream tự động được mở khoá trong Beads.</a:t>
            </a:r>
          </a:p>
          <a:p/>
          <a:p>
            <a:r>
              <a:t>Định tuyến model theo độ phức tạp:</a:t>
            </a:r>
          </a:p>
          <a:p>
            <a:r>
              <a:t>- Orchestrator đánh giá độ khó về cấu trúc và thuật toán của từng track, rồi đề xuất mức reasoning (low, medium, high) và model phù hợp.</a:t>
            </a:r>
          </a:p>
          <a:p>
            <a:r>
              <a:t>- Tránh vòng lặp retry khi model quá yếu, và tránh lãng phí model mạnh cho code boilerplate.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Execute. Đi theo chuỗi trên sơ đồ: requirement REQ-AUTH-003 trong living spec → track trong plan.md → test thất bại được gắn tag # REQ-AUTH-003 → gate specs trace.</a:t>
            </a:r>
          </a:p>
          <a:p/>
          <a:p>
            <a:r>
              <a:t>- Developer nhận track bằng lệnh gin-workflow team claim &lt;bead&gt;.</a:t>
            </a:r>
          </a:p>
          <a:p>
            <a:r>
              <a:t>- Không chấp nhận code triển khai nếu chưa có unit test và integration test thất bại trước, gắn đúng mã requirement.</a:t>
            </a:r>
          </a:p>
          <a:p>
            <a:r>
              <a:t>- Trước khi hoàn tất, gin-workflow specs trace đối chiếu từng scenario của requirement với mã nguồn test. Scenario nào thiếu test sẽ chặn gate ship.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độc lập:</a:t>
            </a:r>
          </a:p>
          <a:p>
            <a:r>
              <a:t>- Một review agent tách biệt kiểm tra diff của track dựa trên quy tắc kiến trúc, độ phủ test và tiêu chí bảo mật.</a:t>
            </a:r>
          </a:p>
          <a:p>
            <a:r>
              <a:t>- Findings được lưu trong .planning/reviews/&lt;bead&gt;/findings.jsonl, kèm số dòng và mức rủi ro.</a:t>
            </a:r>
          </a:p>
          <a:p>
            <a:r>
              <a:t>- Số vòng review có giới hạn, tránh tranh luận vòng vo.</a:t>
            </a:r>
          </a:p>
          <a:p/>
          <a:p>
            <a:r>
              <a:t>Engineer không chấp nhận finding của AI một cách thụ động. Mỗi finding phải được kiểm chứng kỹ thuật và có một trong ba quyết định:</a:t>
            </a:r>
          </a:p>
          <a:p>
            <a:r>
              <a:t>- Fix: sửa code và baseline test, rồi kiểm chứng lại.</a:t>
            </a:r>
          </a:p>
          <a:p>
            <a:r>
              <a:t>- Dispute: đưa ra lập luận kỹ thuật cho thấy code hiện tại đúng như thiết kế.</a:t>
            </a:r>
          </a:p>
          <a:p>
            <a:r>
              <a:t>- Defer: ghi lại issue chính thức hoặc waiver kiến trúc có người ký.</a:t>
            </a:r>
          </a:p>
          <a:p/>
          <a:p>
            <a:r>
              <a:t>Quy tắc: track không được đóng khi ledger còn finding chưa xử lý.</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Nguyên tắc: không agent nào tự chứng nhận công việc của mình. Mỗi tuyên bố cần bằng chứng quan sát được.</a:t>
            </a:r>
          </a:p>
          <a:p/>
          <a:p>
            <a:r>
              <a:t>Đọc bảng theo từng hàng:</a:t>
            </a:r>
          </a:p>
          <a:p>
            <a:r>
              <a:t>- "Tests pass" cần output test với 0 failure ở lần chạy mới; một lần chạy trước đó là chưa đủ.</a:t>
            </a:r>
          </a:p>
          <a:p>
            <a:r>
              <a:t>- "Bug fixed" cần test tái hiện đúng triệu chứng ban đầu, đỏ trước rồi xanh; chỉ thay đổi code là chưa đủ.</a:t>
            </a:r>
          </a:p>
          <a:p>
            <a:r>
              <a:t>- "Agent completed" cần diff đã được kiểm tra; agent tự nói là chưa đủ.</a:t>
            </a:r>
          </a:p>
          <a:p>
            <a:r>
              <a:t>- "Requirements met" cần checklist requirement đã được đối chiếu; test pass là chưa đủ.</a:t>
            </a:r>
          </a:p>
          <a:p>
            <a:r>
              <a:t>- "Waiting for merge" cần nhánh đã push và link PR thật; code chưa commit là chưa đủ.</a:t>
            </a:r>
          </a:p>
          <a:p/>
          <a:p>
            <a:r>
              <a:t>Quy tắc bàn giao: mỗi báo cáo phải nêu rõ đã thay đổi gì, đã kiểm chứng gì, đã miễn trừ gì kèm lý do, trạng thái bead, rủi ro còn lại và lệnh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Cái bẫy khi để AI sinh test: công cụ không bị ràng buộc sẽ sinh hàng trăm test case vụn vặt, giá trị thấp. QA bị ngập trong việc phân loại, làm chậm cả quá trình giao hàng.</a:t>
            </a:r>
          </a:p>
          <a:p/>
          <a:p>
            <a:r>
              <a:t>Cách gin-qa xử lý:</a:t>
            </a:r>
          </a:p>
          <a:p>
            <a:r>
              <a:t>- qa/guidelines.md đặt chính sách: chỉ hành trình người dùng quan trọng mới là Type: e2e; edge case dùng unit hoặc integration test.</a:t>
            </a:r>
          </a:p>
          <a:p>
            <a:r>
              <a:t>- Mỗi test case lưu hash của requirement nó kiểm tra (REQ-AUTH-001@hash).</a:t>
            </a:r>
          </a:p>
          <a:p>
            <a:r>
              <a:t>- gin-qa cases plan phân loại test case thành:</a:t>
            </a:r>
          </a:p>
          <a:p>
            <a:r>
              <a:t>  - missing: requirement mới, cần thêm test case.</a:t>
            </a:r>
          </a:p>
          <a:p>
            <a:r>
              <a:t>  - stale: requirement đã thay đổi từ lần review trước.</a:t>
            </a:r>
          </a:p>
          <a:p>
            <a:r>
              <a:t>  - obsolete: requirement đã bị xoá.</a:t>
            </a:r>
          </a:p>
          <a:p>
            <a:r>
              <a:t>- Test case không đổi thì giữ nguyên; QA chỉ review phần chênh lệch.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đòn bẩy để tối ưu chi phí token:</a:t>
            </a:r>
          </a:p>
          <a:p/>
          <a:p>
            <a:r>
              <a:t>1. Shift left: dùng token ở giai đoạn discuss để làm rõ và xác nhận spec mang lại lợi ích cao nhất. Trong hệ thống brownfield, phát hiện thiếu logic muộn sẽ lan sang nhiều module legacy và đốt token vào các vòng debug và review lặp lại.</a:t>
            </a:r>
          </a:p>
          <a:p/>
          <a:p>
            <a:r>
              <a:t>2. Định tuyến theo độ phức tạp: model quá yếu sẽ thất bại khi tách các phần phức tạp và rơi vào vòng retry; model quá mạnh thì lãng phí ngân sách cho code boilerplate.</a:t>
            </a:r>
          </a:p>
          <a:p/>
          <a:p>
            <a:r>
              <a:t>3. Audit bằng CLI chạy local: specs lint, specs trace, specs hash và các gate check chạy bằng Python CLI trên máy, không tốn token, chỉ trả về trạng thái gọn thay vì đọc code thô. Việc bàn giao gọn giữa các stage và worktree tách biệt giúp context hội thoại luôn nhỏ.</a:t>
            </a:r>
          </a:p>
          <a:p/>
          <a:p>
            <a:r>
              <a:t>Tỷ lệ minh hoạ (không phải số đo thực tế): khoảng 1.000 token đầu tư vào làm rõ spec có thể tránh được hơn 50.000 token rework và retry về sau. Nên thay bằng số đo thật từ /report khi có.</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Ship. Gate ship gồm:</a:t>
            </a:r>
          </a:p>
          <a:p>
            <a:r>
              <a:t>1. Kiểm tra trước khi ship: chạy toàn bộ test, lint, typecheck và specs trace.</a:t>
            </a:r>
          </a:p>
          <a:p>
            <a:r>
              <a:t>2. specs archive gộp requirement từ spec-delta.md vào docs/specs/&lt;cap&gt;/spec.md.</a:t>
            </a:r>
          </a:p>
          <a:p>
            <a:r>
              <a:t>3. Thư mục change proposal được chuyển vào docs/changes/archive/ cùng toàn bộ lịch sử audit.</a:t>
            </a:r>
          </a:p>
          <a:p>
            <a:r>
              <a:t>4. PR tích hợp cuối cùng cần QE duyệt (team.approvals.ship: [qe]).</a:t>
            </a:r>
          </a:p>
          <a:p/>
          <a:p>
            <a:r>
              <a:t>Sức khoẻ dài hạn:</a:t>
            </a:r>
          </a:p>
          <a:p>
            <a:r>
              <a:t>- docs/specs/ luôn là nguồn sự thật duy nhất cho toàn bộ ứng dụng.</a:t>
            </a:r>
          </a:p>
          <a:p>
            <a:r>
              <a:t>- Khi module mới được ship, các đường code legacy tương ứng được tắt và dọn dẹp.</a:t>
            </a:r>
          </a:p>
          <a:p>
            <a:r>
              <a:t>- Requirement thay đổi cùng với code nên không phát sinh nợ tài liệu; bộ regression test giữ business logic lâu dài.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bốn kết quả chính:</a:t>
            </a:r>
          </a:p>
          <a:p>
            <a:r>
              <a:t>- Verifiable Specs: ngữ pháp EARS với scenario GIVEN/WHEN/THEN bắt buộc, được BA duyệt qua pull request.</a:t>
            </a:r>
          </a:p>
          <a:p>
            <a:r>
              <a:t>- Parallel Start: phân tích phụ thuộc để chọn epic không bị chặn; sprint đầu chạy song song thiết lập môi trường và xác nhận spec.</a:t>
            </a:r>
          </a:p>
          <a:p>
            <a:r>
              <a:t>- Code Parity: tag requirement hai chiều và audit specs trace bảo đảm code khớp với spec.</a:t>
            </a:r>
          </a:p>
          <a:p>
            <a:r>
              <a:t>- Focused QA: phát hiện drift dựa trên hash giúp QA chỉ tập trung vào phần thay đổi và các hành trình có giá trị cao.</a:t>
            </a:r>
          </a:p>
          <a:p/>
          <a:p>
            <a:r>
              <a:t>Đề xuất: chạy pilot 2 tuần trên một capability có phạm vi rõ ràng (ví dụ Authentication hoặc Order Intake) để đo velocity cơ sở và chứng minh khả năng giao hàng đạt chuẩn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417320"/>
            <a:ext cx="11094415" cy="274320"/>
          </a:xfrm>
          <a:prstGeom prst="rect">
            <a:avLst/>
          </a:prstGeom>
          <a:noFill/>
        </p:spPr>
        <p:txBody>
          <a:bodyPr wrap="square" anchor="t" lIns="0" rIns="0" tIns="0" bIns="0">
            <a:spAutoFit/>
          </a:bodyPr>
          <a:lstStyle/>
          <a:p>
            <a:pPr algn="l"/>
            <a:r>
              <a:rPr sz="1300" b="1">
                <a:solidFill>
                  <a:srgbClr val="2563EB"/>
                </a:solidFill>
                <a:latin typeface="Consolas"/>
              </a:rPr>
              <a:t>GIN-WORKFLOW 2.1 — MODERNIZATION ARCHITECTURE</a:t>
            </a:r>
          </a:p>
        </p:txBody>
      </p:sp>
      <p:sp>
        <p:nvSpPr>
          <p:cNvPr id="3" name="TextBox 2"/>
          <p:cNvSpPr txBox="1"/>
          <p:nvPr/>
        </p:nvSpPr>
        <p:spPr>
          <a:xfrm>
            <a:off x="548640" y="1783080"/>
            <a:ext cx="9430252" cy="1371600"/>
          </a:xfrm>
          <a:prstGeom prst="rect">
            <a:avLst/>
          </a:prstGeom>
          <a:noFill/>
        </p:spPr>
        <p:txBody>
          <a:bodyPr wrap="square" anchor="t" lIns="0" rIns="0" tIns="0" bIns="0">
            <a:spAutoFit/>
          </a:bodyPr>
          <a:lstStyle/>
          <a:p>
            <a:pPr algn="l"/>
            <a:r>
              <a:rPr sz="4200" b="1">
                <a:solidFill>
                  <a:srgbClr val="141C26"/>
                </a:solidFill>
                <a:latin typeface="Aptos Display"/>
              </a:rPr>
              <a:t>Modernizing Brownfield Systems with gin-workflow &amp; SDD</a:t>
            </a:r>
          </a:p>
        </p:txBody>
      </p:sp>
      <p:sp>
        <p:nvSpPr>
          <p:cNvPr id="4" name="TextBox 3"/>
          <p:cNvSpPr txBox="1"/>
          <p:nvPr/>
        </p:nvSpPr>
        <p:spPr>
          <a:xfrm>
            <a:off x="548640" y="3200400"/>
            <a:ext cx="11094415" cy="411480"/>
          </a:xfrm>
          <a:prstGeom prst="rect">
            <a:avLst/>
          </a:prstGeom>
          <a:noFill/>
        </p:spPr>
        <p:txBody>
          <a:bodyPr wrap="square" anchor="t" lIns="0" rIns="0" tIns="0" bIns="0">
            <a:spAutoFit/>
          </a:bodyPr>
          <a:lstStyle/>
          <a:p>
            <a:pPr algn="l"/>
            <a:r>
              <a:rPr sz="2000" b="0">
                <a:solidFill>
                  <a:srgbClr val="4B5563"/>
                </a:solidFill>
                <a:latin typeface="Aptos Display"/>
              </a:rPr>
              <a:t>From legacy discovery to incremental, verified delivery.</a:t>
            </a:r>
          </a:p>
        </p:txBody>
      </p:sp>
      <p:sp>
        <p:nvSpPr>
          <p:cNvPr id="5" name="Rounded Rectangle 4"/>
          <p:cNvSpPr/>
          <p:nvPr/>
        </p:nvSpPr>
        <p:spPr>
          <a:xfrm>
            <a:off x="548640" y="3977639"/>
            <a:ext cx="3564026" cy="146304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1. Evidence Discovery</a:t>
            </a:r>
          </a:p>
          <a:p>
            <a:pPr>
              <a:lnSpc>
                <a:spcPct val="120000"/>
              </a:lnSpc>
              <a:spcBef>
                <a:spcPts val="800"/>
              </a:spcBef>
            </a:pPr>
            <a:r>
              <a:rPr sz="1600" b="0">
                <a:solidFill>
                  <a:srgbClr val="141C26"/>
                </a:solidFill>
                <a:latin typeface="Aptos"/>
              </a:rPr>
              <a:t>Baseline the legacy system from code, not memory.</a:t>
            </a:r>
          </a:p>
        </p:txBody>
      </p:sp>
      <p:sp>
        <p:nvSpPr>
          <p:cNvPr id="6" name="Rounded Rectangle 5"/>
          <p:cNvSpPr/>
          <p:nvPr/>
        </p:nvSpPr>
        <p:spPr>
          <a:xfrm>
            <a:off x="4313834" y="3977639"/>
            <a:ext cx="3564026" cy="146304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2. Contract-First SDD</a:t>
            </a:r>
          </a:p>
          <a:p>
            <a:pPr>
              <a:lnSpc>
                <a:spcPct val="120000"/>
              </a:lnSpc>
              <a:spcBef>
                <a:spcPts val="800"/>
              </a:spcBef>
            </a:pPr>
            <a:r>
              <a:rPr sz="1600" b="0">
                <a:solidFill>
                  <a:srgbClr val="141C26"/>
                </a:solidFill>
                <a:latin typeface="Aptos"/>
              </a:rPr>
              <a:t>Specs confirmed by pull request before any code is written.</a:t>
            </a:r>
          </a:p>
        </p:txBody>
      </p:sp>
      <p:sp>
        <p:nvSpPr>
          <p:cNvPr id="7" name="Rounded Rectangle 6"/>
          <p:cNvSpPr/>
          <p:nvPr/>
        </p:nvSpPr>
        <p:spPr>
          <a:xfrm>
            <a:off x="8079028" y="3977639"/>
            <a:ext cx="3564026" cy="146304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3. Gated Execution</a:t>
            </a:r>
          </a:p>
          <a:p>
            <a:pPr>
              <a:lnSpc>
                <a:spcPct val="120000"/>
              </a:lnSpc>
              <a:spcBef>
                <a:spcPts val="800"/>
              </a:spcBef>
            </a:pPr>
            <a:r>
              <a:rPr sz="1600" b="0">
                <a:solidFill>
                  <a:srgbClr val="141C26"/>
                </a:solidFill>
                <a:latin typeface="Aptos"/>
              </a:rPr>
              <a:t>Isolated worktrees, TDD, independent review, and trace audits.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PHASE 0: DISCOVERY</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Discover the Legacy System from Evidence (</a:t>
            </a:r>
            <a:r>
              <a:rPr sz="3000" b="1">
                <a:solidFill>
                  <a:srgbClr val="141C26"/>
                </a:solidFill>
                <a:latin typeface="Consolas"/>
              </a:rPr>
              <a:t>/tech-doc</a:t>
            </a:r>
            <a:r>
              <a:rPr sz="3000" b="1">
                <a:solidFill>
                  <a:srgbClr val="141C26"/>
                </a:solidFill>
                <a:latin typeface="Aptos Display"/>
              </a:rPr>
              <a:t>)</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Architecture and dependency baselines taken directly from the repository.</a:t>
            </a:r>
          </a:p>
        </p:txBody>
      </p:sp>
      <p:sp>
        <p:nvSpPr>
          <p:cNvPr id="6" name="Rounded Rectangle 5"/>
          <p:cNvSpPr/>
          <p:nvPr/>
        </p:nvSpPr>
        <p:spPr>
          <a:xfrm>
            <a:off x="548640" y="1920240"/>
            <a:ext cx="5446623"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The Knowledge Gap</a:t>
            </a:r>
          </a:p>
          <a:p>
            <a:pPr marL="219456" indent="-182880">
              <a:lnSpc>
                <a:spcPct val="120000"/>
              </a:lnSpc>
              <a:spcBef>
                <a:spcPts val="800"/>
              </a:spcBef>
              <a:buChar char="•"/>
            </a:pPr>
            <a:r>
              <a:rPr sz="1600" b="0">
                <a:solidFill>
                  <a:srgbClr val="141C26"/>
                </a:solidFill>
                <a:latin typeface="Aptos"/>
              </a:rPr>
              <a:t>Original authors are gone; rules live only in code.</a:t>
            </a:r>
          </a:p>
          <a:p>
            <a:pPr marL="219456" indent="-182880">
              <a:lnSpc>
                <a:spcPct val="120000"/>
              </a:lnSpc>
              <a:spcBef>
                <a:spcPts val="800"/>
              </a:spcBef>
              <a:buChar char="•"/>
            </a:pPr>
            <a:r>
              <a:rPr sz="1600" b="0">
                <a:solidFill>
                  <a:srgbClr val="141C26"/>
                </a:solidFill>
                <a:latin typeface="Aptos"/>
              </a:rPr>
              <a:t>Docs and diagrams lag years behind production.</a:t>
            </a:r>
          </a:p>
          <a:p>
            <a:pPr marL="219456" indent="-182880">
              <a:lnSpc>
                <a:spcPct val="120000"/>
              </a:lnSpc>
              <a:spcBef>
                <a:spcPts val="800"/>
              </a:spcBef>
              <a:buChar char="•"/>
            </a:pPr>
            <a:r>
              <a:rPr sz="1600" b="0">
                <a:solidFill>
                  <a:srgbClr val="141C26"/>
                </a:solidFill>
                <a:latin typeface="Aptos"/>
              </a:rPr>
              <a:t>Hidden triggers, endpoints, and coupling.</a:t>
            </a:r>
          </a:p>
        </p:txBody>
      </p:sp>
      <p:sp>
        <p:nvSpPr>
          <p:cNvPr id="7" name="Rounded Rectangle 6"/>
          <p:cNvSpPr/>
          <p:nvPr/>
        </p:nvSpPr>
        <p:spPr>
          <a:xfrm>
            <a:off x="6196431" y="1920240"/>
            <a:ext cx="5446623"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What </a:t>
            </a:r>
            <a:r>
              <a:rPr sz="2000" b="1">
                <a:solidFill>
                  <a:srgbClr val="141C26"/>
                </a:solidFill>
                <a:latin typeface="Consolas"/>
              </a:rPr>
              <a:t>/tech-doc</a:t>
            </a:r>
            <a:r>
              <a:rPr sz="2000" b="1">
                <a:solidFill>
                  <a:srgbClr val="141C26"/>
                </a:solidFill>
                <a:latin typeface="Aptos Display"/>
              </a:rPr>
              <a:t> Produces</a:t>
            </a:r>
          </a:p>
          <a:p>
            <a:pPr marL="219456" indent="-182880">
              <a:lnSpc>
                <a:spcPct val="120000"/>
              </a:lnSpc>
              <a:spcBef>
                <a:spcPts val="800"/>
              </a:spcBef>
              <a:buChar char="•"/>
            </a:pPr>
            <a:r>
              <a:rPr sz="1600" b="0">
                <a:solidFill>
                  <a:srgbClr val="141C26"/>
                </a:solidFill>
                <a:latin typeface="Aptos"/>
              </a:rPr>
              <a:t>Scans code, schemas, and API handlers.</a:t>
            </a:r>
          </a:p>
          <a:p>
            <a:pPr marL="219456" indent="-182880">
              <a:lnSpc>
                <a:spcPct val="120000"/>
              </a:lnSpc>
              <a:spcBef>
                <a:spcPts val="800"/>
              </a:spcBef>
              <a:buChar char="•"/>
            </a:pPr>
            <a:r>
              <a:rPr sz="1600" b="0">
                <a:solidFill>
                  <a:srgbClr val="141C26"/>
                </a:solidFill>
                <a:latin typeface="Aptos"/>
              </a:rPr>
              <a:t>10 baseline modules in </a:t>
            </a:r>
            <a:r>
              <a:rPr sz="1600" b="0">
                <a:solidFill>
                  <a:srgbClr val="141C26"/>
                </a:solidFill>
                <a:latin typeface="Consolas"/>
              </a:rPr>
              <a:t>docs/codebase/</a:t>
            </a:r>
            <a:r>
              <a:rPr sz="1600" b="0">
                <a:solidFill>
                  <a:srgbClr val="141C26"/>
                </a:solidFill>
                <a:latin typeface="Aptos"/>
              </a:rPr>
              <a:t>.</a:t>
            </a:r>
          </a:p>
          <a:p>
            <a:pPr marL="219456" indent="-182880">
              <a:lnSpc>
                <a:spcPct val="120000"/>
              </a:lnSpc>
              <a:spcBef>
                <a:spcPts val="800"/>
              </a:spcBef>
              <a:buChar char="•"/>
            </a:pPr>
            <a:r>
              <a:rPr sz="1600" b="0">
                <a:solidFill>
                  <a:srgbClr val="141C26"/>
                </a:solidFill>
                <a:latin typeface="Aptos"/>
              </a:rPr>
              <a:t>Every conclusion cites a file and line range.</a:t>
            </a:r>
          </a:p>
        </p:txBody>
      </p:sp>
      <p:sp>
        <p:nvSpPr>
          <p:cNvPr id="8" name="Rounded Rectangle 7"/>
          <p:cNvSpPr/>
          <p:nvPr/>
        </p:nvSpPr>
        <p:spPr>
          <a:xfrm>
            <a:off x="548640" y="5120640"/>
            <a:ext cx="11094415" cy="685800"/>
          </a:xfrm>
          <a:prstGeom prst="roundRect">
            <a:avLst>
              <a:gd name="adj" fmla="val 6000"/>
            </a:avLst>
          </a:prstGeom>
          <a:solidFill>
            <a:srgbClr val="EAF0FA"/>
          </a:solidFill>
          <a:ln w="12700">
            <a:solidFill>
              <a:srgbClr val="B3C8F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2563EB"/>
                </a:solidFill>
                <a:latin typeface="Aptos"/>
              </a:rPr>
              <a:t>Outcome: </a:t>
            </a:r>
            <a:r>
              <a:rPr sz="1700" b="0">
                <a:solidFill>
                  <a:srgbClr val="141C26"/>
                </a:solidFill>
                <a:latin typeface="Aptos"/>
              </a:rPr>
              <a:t>A verifiable baseline of current behavior that seeds the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ROADMAP GOVERNANCE</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Sequence by Dependency, Start in Parallel</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Unblocked modules go first; engineering setup and spec work run side by side.</a:t>
            </a:r>
          </a:p>
        </p:txBody>
      </p:sp>
      <p:graphicFrame>
        <p:nvGraphicFramePr>
          <p:cNvPr id="6" name="Table 5"/>
          <p:cNvGraphicFramePr>
            <a:graphicFrameLocks noGrp="1"/>
          </p:cNvGraphicFramePr>
          <p:nvPr/>
        </p:nvGraphicFramePr>
        <p:xfrm>
          <a:off x="548640" y="1920240"/>
          <a:ext cx="11094414" cy="2825496"/>
        </p:xfrm>
        <a:graphic>
          <a:graphicData uri="http://schemas.openxmlformats.org/drawingml/2006/table">
            <a:tbl>
              <a:tblPr firstRow="1" bandRow="1">
                <a:tableStyleId>{5940675A-B579-460E-94D1-54222C63F5DA}</a:tableStyleId>
              </a:tblPr>
              <a:tblGrid>
                <a:gridCol w="1737360"/>
                <a:gridCol w="4678527"/>
                <a:gridCol w="4678527"/>
              </a:tblGrid>
              <a:tr h="548640">
                <a:tc>
                  <a:txBody>
                    <a:bodyPr wrap="square"/>
                    <a:lstStyle/>
                    <a:p>
                      <a:r>
                        <a:rPr sz="1600" b="1">
                          <a:solidFill>
                            <a:srgbClr val="141C26"/>
                          </a:solidFill>
                          <a:latin typeface="Aptos Display"/>
                        </a:rPr>
                        <a:t>Sprint</a:t>
                      </a:r>
                    </a:p>
                  </a:txBody>
                  <a:tcPr anchor="ctr" marL="137160" marR="137160">
                    <a:solidFill>
                      <a:srgbClr val="EEF1F4"/>
                    </a:solidFill>
                  </a:tcPr>
                </a:tc>
                <a:tc>
                  <a:txBody>
                    <a:bodyPr wrap="square"/>
                    <a:lstStyle/>
                    <a:p>
                      <a:r>
                        <a:rPr sz="1600" b="1">
                          <a:solidFill>
                            <a:srgbClr val="141C26"/>
                          </a:solidFill>
                          <a:latin typeface="Aptos Display"/>
                        </a:rPr>
                        <a:t>Engineering Stream</a:t>
                      </a:r>
                    </a:p>
                  </a:txBody>
                  <a:tcPr anchor="ctr" marL="137160" marR="137160">
                    <a:solidFill>
                      <a:srgbClr val="EEF1F4"/>
                    </a:solidFill>
                  </a:tcPr>
                </a:tc>
                <a:tc>
                  <a:txBody>
                    <a:bodyPr wrap="square"/>
                    <a:lstStyle/>
                    <a:p>
                      <a:r>
                        <a:rPr sz="1600" b="1">
                          <a:solidFill>
                            <a:srgbClr val="141C26"/>
                          </a:solidFill>
                          <a:latin typeface="Aptos Display"/>
                        </a:rPr>
                        <a:t>Product &amp; Analysis Stream</a:t>
                      </a:r>
                    </a:p>
                  </a:txBody>
                  <a:tcPr anchor="ctr" marL="137160" marR="137160">
                    <a:solidFill>
                      <a:srgbClr val="EEF1F4"/>
                    </a:solidFill>
                  </a:tcPr>
                </a:tc>
              </a:tr>
              <a:tr h="758952">
                <a:tc>
                  <a:txBody>
                    <a:bodyPr wrap="square"/>
                    <a:lstStyle/>
                    <a:p>
                      <a:r>
                        <a:rPr sz="1600" b="1">
                          <a:solidFill>
                            <a:srgbClr val="141C26"/>
                          </a:solidFill>
                          <a:latin typeface="Aptos"/>
                        </a:rPr>
                        <a:t>Sprint 1</a:t>
                      </a:r>
                    </a:p>
                  </a:txBody>
                  <a:tcPr anchor="ctr" marL="137160" marR="137160">
                    <a:solidFill>
                      <a:srgbClr val="FFFFFF"/>
                    </a:solidFill>
                  </a:tcPr>
                </a:tc>
                <a:tc>
                  <a:txBody>
                    <a:bodyPr wrap="square"/>
                    <a:lstStyle/>
                    <a:p>
                      <a:r>
                        <a:rPr sz="1600" b="0">
                          <a:solidFill>
                            <a:srgbClr val="141C26"/>
                          </a:solidFill>
                          <a:latin typeface="Aptos"/>
                        </a:rPr>
                        <a:t>Run legacy in Docker; scaffold new repos; set up CI/CD &amp; proxy.</a:t>
                      </a:r>
                    </a:p>
                  </a:txBody>
                  <a:tcPr anchor="ctr" marL="137160" marR="137160">
                    <a:solidFill>
                      <a:srgbClr val="FFFFFF"/>
                    </a:solidFill>
                  </a:tcPr>
                </a:tc>
                <a:tc>
                  <a:txBody>
                    <a:bodyPr wrap="square"/>
                    <a:lstStyle/>
                    <a:p>
                      <a:r>
                        <a:rPr sz="1600" b="0">
                          <a:solidFill>
                            <a:srgbClr val="141C26"/>
                          </a:solidFill>
                          <a:latin typeface="Aptos"/>
                        </a:rPr>
                        <a:t>Pick the first unblocked module; confirm its spec via PR.</a:t>
                      </a:r>
                    </a:p>
                  </a:txBody>
                  <a:tcPr anchor="ctr" marL="137160" marR="137160">
                    <a:solidFill>
                      <a:srgbClr val="FFFFFF"/>
                    </a:solidFill>
                  </a:tcPr>
                </a:tc>
              </a:tr>
              <a:tr h="758952">
                <a:tc>
                  <a:txBody>
                    <a:bodyPr wrap="square"/>
                    <a:lstStyle/>
                    <a:p>
                      <a:r>
                        <a:rPr sz="1600" b="1">
                          <a:solidFill>
                            <a:srgbClr val="141C26"/>
                          </a:solidFill>
                          <a:latin typeface="Aptos"/>
                        </a:rPr>
                        <a:t>Sprint 2</a:t>
                      </a:r>
                    </a:p>
                  </a:txBody>
                  <a:tcPr anchor="ctr" marL="137160" marR="137160">
                    <a:solidFill>
                      <a:srgbClr val="FFFFFF"/>
                    </a:solidFill>
                  </a:tcPr>
                </a:tc>
                <a:tc>
                  <a:txBody>
                    <a:bodyPr wrap="square"/>
                    <a:lstStyle/>
                    <a:p>
                      <a:r>
                        <a:rPr sz="1600" b="0">
                          <a:solidFill>
                            <a:srgbClr val="141C26"/>
                          </a:solidFill>
                          <a:latin typeface="Aptos"/>
                        </a:rPr>
                        <a:t>Plan tracks, open worktrees, build the first epic with TDD.</a:t>
                      </a:r>
                    </a:p>
                  </a:txBody>
                  <a:tcPr anchor="ctr" marL="137160" marR="137160">
                    <a:solidFill>
                      <a:srgbClr val="FFFFFF"/>
                    </a:solidFill>
                  </a:tcPr>
                </a:tc>
                <a:tc>
                  <a:txBody>
                    <a:bodyPr wrap="square"/>
                    <a:lstStyle/>
                    <a:p>
                      <a:r>
                        <a:rPr sz="1600" b="0">
                          <a:solidFill>
                            <a:srgbClr val="141C26"/>
                          </a:solidFill>
                          <a:latin typeface="Aptos"/>
                        </a:rPr>
                        <a:t>Spec the next dependent epic.</a:t>
                      </a:r>
                    </a:p>
                  </a:txBody>
                  <a:tcPr anchor="ctr" marL="137160" marR="137160">
                    <a:solidFill>
                      <a:srgbClr val="FFFFFF"/>
                    </a:solidFill>
                  </a:tcPr>
                </a:tc>
              </a:tr>
              <a:tr h="758952">
                <a:tc>
                  <a:txBody>
                    <a:bodyPr wrap="square"/>
                    <a:lstStyle/>
                    <a:p>
                      <a:r>
                        <a:rPr sz="1600" b="1">
                          <a:solidFill>
                            <a:srgbClr val="141C26"/>
                          </a:solidFill>
                          <a:latin typeface="Aptos"/>
                        </a:rPr>
                        <a:t>Sprint 3+</a:t>
                      </a:r>
                    </a:p>
                  </a:txBody>
                  <a:tcPr anchor="ctr" marL="137160" marR="137160">
                    <a:solidFill>
                      <a:srgbClr val="FFFFFF"/>
                    </a:solidFill>
                  </a:tcPr>
                </a:tc>
                <a:tc>
                  <a:txBody>
                    <a:bodyPr wrap="square"/>
                    <a:lstStyle/>
                    <a:p>
                      <a:r>
                        <a:rPr sz="1600" b="0">
                          <a:solidFill>
                            <a:srgbClr val="141C26"/>
                          </a:solidFill>
                          <a:latin typeface="Aptos"/>
                        </a:rPr>
                        <a:t>Build the next epics; retire replaced legacy paths.</a:t>
                      </a:r>
                    </a:p>
                  </a:txBody>
                  <a:tcPr anchor="ctr" marL="137160" marR="137160">
                    <a:solidFill>
                      <a:srgbClr val="FFFFFF"/>
                    </a:solidFill>
                  </a:tcPr>
                </a:tc>
                <a:tc>
                  <a:txBody>
                    <a:bodyPr wrap="square"/>
                    <a:lstStyle/>
                    <a:p>
                      <a:r>
                        <a:rPr sz="1600" b="0">
                          <a:solidFill>
                            <a:srgbClr val="141C26"/>
                          </a:solidFill>
                          <a:latin typeface="Aptos"/>
                        </a:rPr>
                        <a:t>Keep living specs current via </a:t>
                      </a:r>
                      <a:r>
                        <a:rPr sz="1600" b="0">
                          <a:solidFill>
                            <a:srgbClr val="141C26"/>
                          </a:solidFill>
                          <a:latin typeface="Consolas"/>
                        </a:rPr>
                        <a:t>spec-delta.md</a:t>
                      </a:r>
                      <a:r>
                        <a:rPr sz="1600" b="0">
                          <a:solidFill>
                            <a:srgbClr val="141C26"/>
                          </a:solidFill>
                          <a:latin typeface="Aptos"/>
                        </a:rPr>
                        <a:t>.</a:t>
                      </a:r>
                    </a:p>
                  </a:txBody>
                  <a:tcPr anchor="ctr" marL="137160" marR="137160">
                    <a:solidFill>
                      <a:srgbClr val="FFFFFF"/>
                    </a:solidFill>
                  </a:tcPr>
                </a:tc>
              </a:tr>
            </a:tbl>
          </a:graphicData>
        </a:graphic>
      </p:graphicFrame>
      <p:sp>
        <p:nvSpPr>
          <p:cNvPr id="7" name="Rounded Rectangle 6"/>
          <p:cNvSpPr/>
          <p:nvPr/>
        </p:nvSpPr>
        <p:spPr>
          <a:xfrm>
            <a:off x="548640" y="5074920"/>
            <a:ext cx="11094415" cy="685800"/>
          </a:xfrm>
          <a:prstGeom prst="roundRect">
            <a:avLst>
              <a:gd name="adj" fmla="val 6000"/>
            </a:avLst>
          </a:prstGeom>
          <a:solidFill>
            <a:srgbClr val="EAF0FA"/>
          </a:solidFill>
          <a:ln w="12700">
            <a:solidFill>
              <a:srgbClr val="B3C8F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2563EB"/>
                </a:solidFill>
                <a:latin typeface="Aptos"/>
              </a:rPr>
              <a:t>Rule: </a:t>
            </a:r>
            <a:r>
              <a:rPr sz="1700" b="0">
                <a:solidFill>
                  <a:srgbClr val="141C26"/>
                </a:solidFill>
                <a:latin typeface="Aptos"/>
              </a:rPr>
              <a:t>No code starts on an unconfirmed spec.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TEAM GOVERNANCE</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Who Does What, Stage by Stage</a:t>
            </a:r>
          </a:p>
        </p:txBody>
      </p:sp>
      <p:sp>
        <p:nvSpPr>
          <p:cNvPr id="4" name="Rectangle 3"/>
          <p:cNvSpPr/>
          <p:nvPr/>
        </p:nvSpPr>
        <p:spPr>
          <a:xfrm>
            <a:off x="901658" y="1836751"/>
            <a:ext cx="10388379" cy="2046665"/>
          </a:xfrm>
          <a:prstGeom prst="rect">
            <a:avLst/>
          </a:prstGeom>
          <a:solidFill>
            <a:srgbClr val="F7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1658" y="3883417"/>
            <a:ext cx="10388379" cy="1534999"/>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01658" y="5418416"/>
            <a:ext cx="10388379" cy="511666"/>
          </a:xfrm>
          <a:prstGeom prst="rect">
            <a:avLst/>
          </a:prstGeom>
          <a:solidFill>
            <a:srgbClr val="E9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1658" y="1836751"/>
            <a:ext cx="38762" cy="2046665"/>
          </a:xfrm>
          <a:prstGeom prst="rect">
            <a:avLst/>
          </a:prstGeom>
          <a:solidFill>
            <a:srgbClr val="9A45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1658" y="3883417"/>
            <a:ext cx="38762" cy="153499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1658" y="5418416"/>
            <a:ext cx="38762" cy="511666"/>
          </a:xfrm>
          <a:prstGeom prst="rect">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901658" y="1836751"/>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1658" y="2348417"/>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01658" y="2860084"/>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1658" y="3371750"/>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01658" y="3883417"/>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1658" y="4395083"/>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1658" y="4906749"/>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1658" y="5418416"/>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01658" y="5930082"/>
            <a:ext cx="10388379"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97111" y="1526650"/>
            <a:ext cx="0" cy="4403432"/>
          </a:xfrm>
          <a:prstGeom prst="line">
            <a:avLst/>
          </a:prstGeom>
          <a:ln w="12700">
            <a:solidFill>
              <a:srgbClr val="CFD6DF"/>
            </a:solidFill>
            <a:prstDash val="sys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7616" y="1526650"/>
            <a:ext cx="0" cy="4403432"/>
          </a:xfrm>
          <a:prstGeom prst="line">
            <a:avLst/>
          </a:prstGeom>
          <a:ln w="12700">
            <a:solidFill>
              <a:srgbClr val="CFD6DF"/>
            </a:solidFill>
            <a:prstDash val="sys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98120" y="1526650"/>
            <a:ext cx="0" cy="4403432"/>
          </a:xfrm>
          <a:prstGeom prst="line">
            <a:avLst/>
          </a:prstGeom>
          <a:ln w="12700">
            <a:solidFill>
              <a:srgbClr val="CFD6DF"/>
            </a:solidFill>
            <a:prstDash val="sys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48624" y="1526650"/>
            <a:ext cx="0" cy="4403432"/>
          </a:xfrm>
          <a:prstGeom prst="line">
            <a:avLst/>
          </a:prstGeom>
          <a:ln w="12700">
            <a:solidFill>
              <a:srgbClr val="CFD6DF"/>
            </a:solidFill>
            <a:prstDash val="sys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29431" y="1526650"/>
            <a:ext cx="0" cy="4403432"/>
          </a:xfrm>
          <a:prstGeom prst="line">
            <a:avLst/>
          </a:prstGeom>
          <a:ln w="12700">
            <a:solidFill>
              <a:srgbClr val="CFD6DF"/>
            </a:solidFill>
            <a:prstDash val="sys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698596" y="1558513"/>
            <a:ext cx="747535" cy="196526"/>
          </a:xfrm>
          <a:prstGeom prst="rect">
            <a:avLst/>
          </a:prstGeom>
          <a:noFill/>
        </p:spPr>
        <p:txBody>
          <a:bodyPr wrap="none" anchor="t" lIns="0" rIns="0" tIns="0" bIns="0">
            <a:spAutoFit/>
          </a:bodyPr>
          <a:lstStyle/>
          <a:p>
            <a:pPr algn="ctr"/>
            <a:r>
              <a:rPr sz="1190" b="1">
                <a:solidFill>
                  <a:srgbClr val="141C26"/>
                </a:solidFill>
                <a:latin typeface="Aptos Display"/>
              </a:rPr>
              <a:t>discuss</a:t>
            </a:r>
          </a:p>
        </p:txBody>
      </p:sp>
      <p:sp>
        <p:nvSpPr>
          <p:cNvPr id="25" name="TextBox 24"/>
          <p:cNvSpPr txBox="1"/>
          <p:nvPr/>
        </p:nvSpPr>
        <p:spPr>
          <a:xfrm>
            <a:off x="4389692" y="1558513"/>
            <a:ext cx="466351" cy="196526"/>
          </a:xfrm>
          <a:prstGeom prst="rect">
            <a:avLst/>
          </a:prstGeom>
          <a:noFill/>
        </p:spPr>
        <p:txBody>
          <a:bodyPr wrap="none" anchor="t" lIns="0" rIns="0" tIns="0" bIns="0">
            <a:spAutoFit/>
          </a:bodyPr>
          <a:lstStyle/>
          <a:p>
            <a:pPr algn="ctr"/>
            <a:r>
              <a:rPr sz="1190" b="1">
                <a:solidFill>
                  <a:srgbClr val="141C26"/>
                </a:solidFill>
                <a:latin typeface="Aptos Display"/>
              </a:rPr>
              <a:t>plan</a:t>
            </a:r>
          </a:p>
        </p:txBody>
      </p:sp>
      <p:sp>
        <p:nvSpPr>
          <p:cNvPr id="26" name="TextBox 25"/>
          <p:cNvSpPr txBox="1"/>
          <p:nvPr/>
        </p:nvSpPr>
        <p:spPr>
          <a:xfrm>
            <a:off x="5612148" y="1558513"/>
            <a:ext cx="1122447" cy="196526"/>
          </a:xfrm>
          <a:prstGeom prst="rect">
            <a:avLst/>
          </a:prstGeom>
          <a:noFill/>
        </p:spPr>
        <p:txBody>
          <a:bodyPr wrap="none" anchor="t" lIns="0" rIns="0" tIns="0" bIns="0">
            <a:spAutoFit/>
          </a:bodyPr>
          <a:lstStyle/>
          <a:p>
            <a:pPr algn="ctr"/>
            <a:r>
              <a:rPr sz="1190" b="1">
                <a:solidFill>
                  <a:srgbClr val="141C26"/>
                </a:solidFill>
                <a:latin typeface="Aptos Display"/>
              </a:rPr>
              <a:t>orchestrate</a:t>
            </a:r>
          </a:p>
        </p:txBody>
      </p:sp>
      <p:sp>
        <p:nvSpPr>
          <p:cNvPr id="27" name="TextBox 26"/>
          <p:cNvSpPr txBox="1"/>
          <p:nvPr/>
        </p:nvSpPr>
        <p:spPr>
          <a:xfrm>
            <a:off x="7252892" y="1558513"/>
            <a:ext cx="1872271" cy="196526"/>
          </a:xfrm>
          <a:prstGeom prst="rect">
            <a:avLst/>
          </a:prstGeom>
          <a:noFill/>
        </p:spPr>
        <p:txBody>
          <a:bodyPr wrap="none" anchor="t" lIns="0" rIns="0" tIns="0" bIns="0">
            <a:spAutoFit/>
          </a:bodyPr>
          <a:lstStyle/>
          <a:p>
            <a:pPr algn="ctr"/>
            <a:r>
              <a:rPr sz="1190" b="1">
                <a:solidFill>
                  <a:srgbClr val="141C26"/>
                </a:solidFill>
                <a:latin typeface="Aptos Display"/>
              </a:rPr>
              <a:t>execute · per track</a:t>
            </a:r>
          </a:p>
        </p:txBody>
      </p:sp>
      <p:sp>
        <p:nvSpPr>
          <p:cNvPr id="28" name="TextBox 27"/>
          <p:cNvSpPr txBox="1"/>
          <p:nvPr/>
        </p:nvSpPr>
        <p:spPr>
          <a:xfrm>
            <a:off x="10126558" y="1558513"/>
            <a:ext cx="466351" cy="196526"/>
          </a:xfrm>
          <a:prstGeom prst="rect">
            <a:avLst/>
          </a:prstGeom>
          <a:noFill/>
        </p:spPr>
        <p:txBody>
          <a:bodyPr wrap="none" anchor="t" lIns="0" rIns="0" tIns="0" bIns="0">
            <a:spAutoFit/>
          </a:bodyPr>
          <a:lstStyle/>
          <a:p>
            <a:pPr algn="ctr"/>
            <a:r>
              <a:rPr sz="1190" b="1">
                <a:solidFill>
                  <a:srgbClr val="141C26"/>
                </a:solidFill>
                <a:latin typeface="Aptos Display"/>
              </a:rPr>
              <a:t>ship</a:t>
            </a:r>
          </a:p>
        </p:txBody>
      </p:sp>
      <p:sp>
        <p:nvSpPr>
          <p:cNvPr id="29" name="TextBox 28"/>
          <p:cNvSpPr txBox="1"/>
          <p:nvPr/>
        </p:nvSpPr>
        <p:spPr>
          <a:xfrm>
            <a:off x="1056708" y="1943441"/>
            <a:ext cx="822518" cy="170322"/>
          </a:xfrm>
          <a:prstGeom prst="rect">
            <a:avLst/>
          </a:prstGeom>
          <a:noFill/>
        </p:spPr>
        <p:txBody>
          <a:bodyPr wrap="none" anchor="t" lIns="0" rIns="0" tIns="0" bIns="0">
            <a:spAutoFit/>
          </a:bodyPr>
          <a:lstStyle/>
          <a:p>
            <a:pPr algn="l"/>
            <a:r>
              <a:rPr sz="1031" b="1">
                <a:solidFill>
                  <a:srgbClr val="141C26"/>
                </a:solidFill>
                <a:latin typeface="Aptos Display"/>
              </a:rPr>
              <a:t>Requester</a:t>
            </a:r>
          </a:p>
        </p:txBody>
      </p:sp>
      <p:sp>
        <p:nvSpPr>
          <p:cNvPr id="30" name="TextBox 29"/>
          <p:cNvSpPr txBox="1"/>
          <p:nvPr/>
        </p:nvSpPr>
        <p:spPr>
          <a:xfrm>
            <a:off x="1056708" y="2088041"/>
            <a:ext cx="572577" cy="144119"/>
          </a:xfrm>
          <a:prstGeom prst="rect">
            <a:avLst/>
          </a:prstGeom>
          <a:noFill/>
        </p:spPr>
        <p:txBody>
          <a:bodyPr wrap="none" anchor="t" lIns="0" rIns="0" tIns="0" bIns="0">
            <a:spAutoFit/>
          </a:bodyPr>
          <a:lstStyle/>
          <a:p>
            <a:pPr algn="l"/>
            <a:r>
              <a:rPr sz="872" b="0">
                <a:solidFill>
                  <a:srgbClr val="4B5563"/>
                </a:solidFill>
                <a:latin typeface="Aptos"/>
              </a:rPr>
              <a:t>BA / PM</a:t>
            </a:r>
          </a:p>
        </p:txBody>
      </p:sp>
      <p:sp>
        <p:nvSpPr>
          <p:cNvPr id="31" name="TextBox 30"/>
          <p:cNvSpPr txBox="1"/>
          <p:nvPr/>
        </p:nvSpPr>
        <p:spPr>
          <a:xfrm>
            <a:off x="1056708" y="2455107"/>
            <a:ext cx="822518" cy="170322"/>
          </a:xfrm>
          <a:prstGeom prst="rect">
            <a:avLst/>
          </a:prstGeom>
          <a:noFill/>
        </p:spPr>
        <p:txBody>
          <a:bodyPr wrap="none" anchor="t" lIns="0" rIns="0" tIns="0" bIns="0">
            <a:spAutoFit/>
          </a:bodyPr>
          <a:lstStyle/>
          <a:p>
            <a:pPr algn="l"/>
            <a:r>
              <a:rPr sz="1031" b="1">
                <a:solidFill>
                  <a:srgbClr val="141C26"/>
                </a:solidFill>
                <a:latin typeface="Aptos Display"/>
              </a:rPr>
              <a:t>Area lead</a:t>
            </a:r>
          </a:p>
        </p:txBody>
      </p:sp>
      <p:sp>
        <p:nvSpPr>
          <p:cNvPr id="32" name="TextBox 31"/>
          <p:cNvSpPr txBox="1"/>
          <p:nvPr/>
        </p:nvSpPr>
        <p:spPr>
          <a:xfrm>
            <a:off x="1056708" y="2599707"/>
            <a:ext cx="1328649" cy="144119"/>
          </a:xfrm>
          <a:prstGeom prst="rect">
            <a:avLst/>
          </a:prstGeom>
          <a:noFill/>
        </p:spPr>
        <p:txBody>
          <a:bodyPr wrap="none" anchor="t" lIns="0" rIns="0" tIns="0" bIns="0">
            <a:spAutoFit/>
          </a:bodyPr>
          <a:lstStyle/>
          <a:p>
            <a:pPr algn="l"/>
            <a:r>
              <a:rPr sz="872" b="0">
                <a:solidFill>
                  <a:srgbClr val="4B5563"/>
                </a:solidFill>
                <a:latin typeface="Aptos"/>
              </a:rPr>
              <a:t>owns the code area</a:t>
            </a:r>
          </a:p>
        </p:txBody>
      </p:sp>
      <p:sp>
        <p:nvSpPr>
          <p:cNvPr id="33" name="TextBox 32"/>
          <p:cNvSpPr txBox="1"/>
          <p:nvPr/>
        </p:nvSpPr>
        <p:spPr>
          <a:xfrm>
            <a:off x="1056708" y="2966774"/>
            <a:ext cx="822518" cy="170322"/>
          </a:xfrm>
          <a:prstGeom prst="rect">
            <a:avLst/>
          </a:prstGeom>
          <a:noFill/>
        </p:spPr>
        <p:txBody>
          <a:bodyPr wrap="none" anchor="t" lIns="0" rIns="0" tIns="0" bIns="0">
            <a:spAutoFit/>
          </a:bodyPr>
          <a:lstStyle/>
          <a:p>
            <a:pPr algn="l"/>
            <a:r>
              <a:rPr sz="1031" b="1">
                <a:solidFill>
                  <a:srgbClr val="141C26"/>
                </a:solidFill>
                <a:latin typeface="Aptos Display"/>
              </a:rPr>
              <a:t>Developer</a:t>
            </a:r>
          </a:p>
        </p:txBody>
      </p:sp>
      <p:sp>
        <p:nvSpPr>
          <p:cNvPr id="34" name="TextBox 33"/>
          <p:cNvSpPr txBox="1"/>
          <p:nvPr/>
        </p:nvSpPr>
        <p:spPr>
          <a:xfrm>
            <a:off x="1056708" y="3111374"/>
            <a:ext cx="1122447" cy="144119"/>
          </a:xfrm>
          <a:prstGeom prst="rect">
            <a:avLst/>
          </a:prstGeom>
          <a:noFill/>
        </p:spPr>
        <p:txBody>
          <a:bodyPr wrap="none" anchor="t" lIns="0" rIns="0" tIns="0" bIns="0">
            <a:spAutoFit/>
          </a:bodyPr>
          <a:lstStyle/>
          <a:p>
            <a:pPr algn="l"/>
            <a:r>
              <a:rPr sz="872" b="0">
                <a:solidFill>
                  <a:srgbClr val="4B5563"/>
                </a:solidFill>
                <a:latin typeface="Aptos"/>
              </a:rPr>
              <a:t>runs the stages</a:t>
            </a:r>
          </a:p>
        </p:txBody>
      </p:sp>
      <p:sp>
        <p:nvSpPr>
          <p:cNvPr id="35" name="TextBox 34"/>
          <p:cNvSpPr txBox="1"/>
          <p:nvPr/>
        </p:nvSpPr>
        <p:spPr>
          <a:xfrm>
            <a:off x="1056708" y="3478440"/>
            <a:ext cx="1147441" cy="170322"/>
          </a:xfrm>
          <a:prstGeom prst="rect">
            <a:avLst/>
          </a:prstGeom>
          <a:noFill/>
        </p:spPr>
        <p:txBody>
          <a:bodyPr wrap="none" anchor="t" lIns="0" rIns="0" tIns="0" bIns="0">
            <a:spAutoFit/>
          </a:bodyPr>
          <a:lstStyle/>
          <a:p>
            <a:pPr algn="l"/>
            <a:r>
              <a:rPr sz="1031" b="1">
                <a:solidFill>
                  <a:srgbClr val="141C26"/>
                </a:solidFill>
                <a:latin typeface="Aptos Display"/>
              </a:rPr>
              <a:t>Ship approver</a:t>
            </a:r>
          </a:p>
        </p:txBody>
      </p:sp>
      <p:sp>
        <p:nvSpPr>
          <p:cNvPr id="36" name="TextBox 35"/>
          <p:cNvSpPr txBox="1"/>
          <p:nvPr/>
        </p:nvSpPr>
        <p:spPr>
          <a:xfrm>
            <a:off x="1056708" y="3623040"/>
            <a:ext cx="1328649" cy="144119"/>
          </a:xfrm>
          <a:prstGeom prst="rect">
            <a:avLst/>
          </a:prstGeom>
          <a:noFill/>
        </p:spPr>
        <p:txBody>
          <a:bodyPr wrap="none" anchor="t" lIns="0" rIns="0" tIns="0" bIns="0">
            <a:spAutoFit/>
          </a:bodyPr>
          <a:lstStyle/>
          <a:p>
            <a:pPr algn="l"/>
            <a:r>
              <a:rPr sz="872" b="0">
                <a:solidFill>
                  <a:srgbClr val="4B5563"/>
                </a:solidFill>
                <a:latin typeface="Aptos"/>
              </a:rPr>
              <a:t>team mode, e.g. QE</a:t>
            </a:r>
          </a:p>
        </p:txBody>
      </p:sp>
      <p:sp>
        <p:nvSpPr>
          <p:cNvPr id="37" name="TextBox 36"/>
          <p:cNvSpPr txBox="1"/>
          <p:nvPr/>
        </p:nvSpPr>
        <p:spPr>
          <a:xfrm>
            <a:off x="1056708" y="3990107"/>
            <a:ext cx="903749" cy="170322"/>
          </a:xfrm>
          <a:prstGeom prst="rect">
            <a:avLst/>
          </a:prstGeom>
          <a:noFill/>
        </p:spPr>
        <p:txBody>
          <a:bodyPr wrap="none" anchor="t" lIns="0" rIns="0" tIns="0" bIns="0">
            <a:spAutoFit/>
          </a:bodyPr>
          <a:lstStyle/>
          <a:p>
            <a:pPr algn="l"/>
            <a:r>
              <a:rPr sz="1031" b="1">
                <a:solidFill>
                  <a:srgbClr val="141C26"/>
                </a:solidFill>
                <a:latin typeface="Aptos Display"/>
              </a:rPr>
              <a:t>Main agent</a:t>
            </a:r>
          </a:p>
        </p:txBody>
      </p:sp>
      <p:sp>
        <p:nvSpPr>
          <p:cNvPr id="38" name="TextBox 37"/>
          <p:cNvSpPr txBox="1"/>
          <p:nvPr/>
        </p:nvSpPr>
        <p:spPr>
          <a:xfrm>
            <a:off x="1056708" y="4134707"/>
            <a:ext cx="1466117" cy="144119"/>
          </a:xfrm>
          <a:prstGeom prst="rect">
            <a:avLst/>
          </a:prstGeom>
          <a:noFill/>
        </p:spPr>
        <p:txBody>
          <a:bodyPr wrap="none" anchor="t" lIns="0" rIns="0" tIns="0" bIns="0">
            <a:spAutoFit/>
          </a:bodyPr>
          <a:lstStyle/>
          <a:p>
            <a:pPr algn="l"/>
            <a:r>
              <a:rPr sz="872" b="0">
                <a:solidFill>
                  <a:srgbClr val="4B5563"/>
                </a:solidFill>
                <a:latin typeface="Aptos"/>
              </a:rPr>
              <a:t>your harness session</a:t>
            </a:r>
          </a:p>
        </p:txBody>
      </p:sp>
      <p:sp>
        <p:nvSpPr>
          <p:cNvPr id="39" name="TextBox 38"/>
          <p:cNvSpPr txBox="1"/>
          <p:nvPr/>
        </p:nvSpPr>
        <p:spPr>
          <a:xfrm>
            <a:off x="1056708" y="4501773"/>
            <a:ext cx="578825" cy="170322"/>
          </a:xfrm>
          <a:prstGeom prst="rect">
            <a:avLst/>
          </a:prstGeom>
          <a:noFill/>
        </p:spPr>
        <p:txBody>
          <a:bodyPr wrap="none" anchor="t" lIns="0" rIns="0" tIns="0" bIns="0">
            <a:spAutoFit/>
          </a:bodyPr>
          <a:lstStyle/>
          <a:p>
            <a:pPr algn="l"/>
            <a:r>
              <a:rPr sz="1031" b="1">
                <a:solidFill>
                  <a:srgbClr val="141C26"/>
                </a:solidFill>
                <a:latin typeface="Aptos Display"/>
              </a:rPr>
              <a:t>Worker</a:t>
            </a:r>
          </a:p>
        </p:txBody>
      </p:sp>
      <p:sp>
        <p:nvSpPr>
          <p:cNvPr id="40" name="TextBox 39"/>
          <p:cNvSpPr txBox="1"/>
          <p:nvPr/>
        </p:nvSpPr>
        <p:spPr>
          <a:xfrm>
            <a:off x="1056708" y="4646373"/>
            <a:ext cx="1878520" cy="144119"/>
          </a:xfrm>
          <a:prstGeom prst="rect">
            <a:avLst/>
          </a:prstGeom>
          <a:noFill/>
        </p:spPr>
        <p:txBody>
          <a:bodyPr wrap="none" anchor="t" lIns="0" rIns="0" tIns="0" bIns="0">
            <a:spAutoFit/>
          </a:bodyPr>
          <a:lstStyle/>
          <a:p>
            <a:pPr algn="l"/>
            <a:r>
              <a:rPr sz="872" b="0">
                <a:solidFill>
                  <a:srgbClr val="4B5563"/>
                </a:solidFill>
                <a:latin typeface="Aptos"/>
              </a:rPr>
              <a:t>gin-orchestrator, optional</a:t>
            </a:r>
          </a:p>
        </p:txBody>
      </p:sp>
      <p:sp>
        <p:nvSpPr>
          <p:cNvPr id="41" name="TextBox 40"/>
          <p:cNvSpPr txBox="1"/>
          <p:nvPr/>
        </p:nvSpPr>
        <p:spPr>
          <a:xfrm>
            <a:off x="1056708" y="5013440"/>
            <a:ext cx="741287" cy="170322"/>
          </a:xfrm>
          <a:prstGeom prst="rect">
            <a:avLst/>
          </a:prstGeom>
          <a:noFill/>
        </p:spPr>
        <p:txBody>
          <a:bodyPr wrap="none" anchor="t" lIns="0" rIns="0" tIns="0" bIns="0">
            <a:spAutoFit/>
          </a:bodyPr>
          <a:lstStyle/>
          <a:p>
            <a:pPr algn="l"/>
            <a:r>
              <a:rPr sz="1031" b="1">
                <a:solidFill>
                  <a:srgbClr val="141C26"/>
                </a:solidFill>
                <a:latin typeface="Aptos Display"/>
              </a:rPr>
              <a:t>Reviewer</a:t>
            </a:r>
          </a:p>
        </p:txBody>
      </p:sp>
      <p:sp>
        <p:nvSpPr>
          <p:cNvPr id="42" name="TextBox 41"/>
          <p:cNvSpPr txBox="1"/>
          <p:nvPr/>
        </p:nvSpPr>
        <p:spPr>
          <a:xfrm>
            <a:off x="1056708" y="5158040"/>
            <a:ext cx="1809786" cy="144119"/>
          </a:xfrm>
          <a:prstGeom prst="rect">
            <a:avLst/>
          </a:prstGeom>
          <a:noFill/>
        </p:spPr>
        <p:txBody>
          <a:bodyPr wrap="none" anchor="t" lIns="0" rIns="0" tIns="0" bIns="0">
            <a:spAutoFit/>
          </a:bodyPr>
          <a:lstStyle/>
          <a:p>
            <a:pPr algn="l"/>
            <a:r>
              <a:rPr sz="872" b="0">
                <a:solidFill>
                  <a:srgbClr val="4B5563"/>
                </a:solidFill>
                <a:latin typeface="Aptos"/>
              </a:rPr>
              <a:t>fresh session or provider</a:t>
            </a:r>
          </a:p>
        </p:txBody>
      </p:sp>
      <p:sp>
        <p:nvSpPr>
          <p:cNvPr id="43" name="TextBox 42"/>
          <p:cNvSpPr txBox="1"/>
          <p:nvPr/>
        </p:nvSpPr>
        <p:spPr>
          <a:xfrm>
            <a:off x="1056708" y="5525106"/>
            <a:ext cx="1228672" cy="170322"/>
          </a:xfrm>
          <a:prstGeom prst="rect">
            <a:avLst/>
          </a:prstGeom>
          <a:noFill/>
        </p:spPr>
        <p:txBody>
          <a:bodyPr wrap="none" anchor="t" lIns="0" rIns="0" tIns="0" bIns="0">
            <a:spAutoFit/>
          </a:bodyPr>
          <a:lstStyle/>
          <a:p>
            <a:pPr algn="l"/>
            <a:r>
              <a:rPr sz="1031" b="1">
                <a:solidFill>
                  <a:srgbClr val="141C26"/>
                </a:solidFill>
                <a:latin typeface="Aptos Display"/>
              </a:rPr>
              <a:t>Git hooks &amp; CI</a:t>
            </a:r>
          </a:p>
        </p:txBody>
      </p:sp>
      <p:sp>
        <p:nvSpPr>
          <p:cNvPr id="44" name="TextBox 43"/>
          <p:cNvSpPr txBox="1"/>
          <p:nvPr/>
        </p:nvSpPr>
        <p:spPr>
          <a:xfrm>
            <a:off x="1056708" y="5669706"/>
            <a:ext cx="1397383" cy="144119"/>
          </a:xfrm>
          <a:prstGeom prst="rect">
            <a:avLst/>
          </a:prstGeom>
          <a:noFill/>
        </p:spPr>
        <p:txBody>
          <a:bodyPr wrap="none" anchor="t" lIns="0" rIns="0" tIns="0" bIns="0">
            <a:spAutoFit/>
          </a:bodyPr>
          <a:lstStyle/>
          <a:p>
            <a:pPr algn="l"/>
            <a:r>
              <a:rPr sz="872" b="0">
                <a:solidFill>
                  <a:srgbClr val="4B5563"/>
                </a:solidFill>
                <a:latin typeface="Aptos"/>
              </a:rPr>
              <a:t>checks set by rigor</a:t>
            </a:r>
          </a:p>
        </p:txBody>
      </p:sp>
      <p:sp>
        <p:nvSpPr>
          <p:cNvPr id="45" name="Rounded Rectangle 44"/>
          <p:cNvSpPr/>
          <p:nvPr/>
        </p:nvSpPr>
        <p:spPr>
          <a:xfrm>
            <a:off x="2452162" y="2999629"/>
            <a:ext cx="620201" cy="232575"/>
          </a:xfrm>
          <a:prstGeom prst="roundRect">
            <a:avLst>
              <a:gd name="adj" fmla="val 50000"/>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416613" y="3023569"/>
            <a:ext cx="691299" cy="157221"/>
          </a:xfrm>
          <a:prstGeom prst="rect">
            <a:avLst/>
          </a:prstGeom>
          <a:noFill/>
        </p:spPr>
        <p:txBody>
          <a:bodyPr wrap="none" anchor="t" lIns="0" rIns="0" tIns="0" bIns="0">
            <a:spAutoFit/>
          </a:bodyPr>
          <a:lstStyle/>
          <a:p>
            <a:pPr algn="ctr"/>
            <a:r>
              <a:rPr sz="952" b="0">
                <a:solidFill>
                  <a:srgbClr val="EEF1F4"/>
                </a:solidFill>
                <a:latin typeface="Consolas"/>
              </a:rPr>
              <a:t>/discuss</a:t>
            </a:r>
          </a:p>
        </p:txBody>
      </p:sp>
      <p:cxnSp>
        <p:nvCxnSpPr>
          <p:cNvPr id="47" name="Connector 46"/>
          <p:cNvCxnSpPr/>
          <p:nvPr/>
        </p:nvCxnSpPr>
        <p:spPr>
          <a:xfrm>
            <a:off x="2762263" y="3232205"/>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211904" y="3584278"/>
            <a:ext cx="503843" cy="144119"/>
          </a:xfrm>
          <a:prstGeom prst="rect">
            <a:avLst/>
          </a:prstGeom>
          <a:noFill/>
        </p:spPr>
        <p:txBody>
          <a:bodyPr wrap="none" anchor="t" lIns="0" rIns="0" tIns="0" bIns="0">
            <a:spAutoFit/>
          </a:bodyPr>
          <a:lstStyle/>
          <a:p>
            <a:pPr algn="r"/>
            <a:r>
              <a:rPr sz="872" b="0">
                <a:solidFill>
                  <a:srgbClr val="4B5563"/>
                </a:solidFill>
                <a:latin typeface="Aptos"/>
              </a:rPr>
              <a:t>starts</a:t>
            </a:r>
          </a:p>
        </p:txBody>
      </p:sp>
      <p:sp>
        <p:nvSpPr>
          <p:cNvPr id="49" name="Rounded Rectangle 48"/>
          <p:cNvSpPr/>
          <p:nvPr/>
        </p:nvSpPr>
        <p:spPr>
          <a:xfrm>
            <a:off x="2452162" y="3984199"/>
            <a:ext cx="1240403"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464276" y="3984882"/>
            <a:ext cx="1216175" cy="157221"/>
          </a:xfrm>
          <a:prstGeom prst="rect">
            <a:avLst/>
          </a:prstGeom>
          <a:noFill/>
        </p:spPr>
        <p:txBody>
          <a:bodyPr wrap="none" anchor="t" lIns="0" rIns="0" tIns="0" bIns="0">
            <a:spAutoFit/>
          </a:bodyPr>
          <a:lstStyle/>
          <a:p>
            <a:pPr algn="ctr"/>
            <a:r>
              <a:rPr sz="952" b="0">
                <a:solidFill>
                  <a:srgbClr val="141C26"/>
                </a:solidFill>
                <a:latin typeface="Aptos"/>
              </a:rPr>
              <a:t>Asks, proposes,</a:t>
            </a:r>
          </a:p>
        </p:txBody>
      </p:sp>
      <p:sp>
        <p:nvSpPr>
          <p:cNvPr id="51" name="TextBox 50"/>
          <p:cNvSpPr txBox="1"/>
          <p:nvPr/>
        </p:nvSpPr>
        <p:spPr>
          <a:xfrm>
            <a:off x="2464276" y="4101169"/>
            <a:ext cx="1216175" cy="157221"/>
          </a:xfrm>
          <a:prstGeom prst="rect">
            <a:avLst/>
          </a:prstGeom>
          <a:noFill/>
        </p:spPr>
        <p:txBody>
          <a:bodyPr wrap="none" anchor="t" lIns="0" rIns="0" tIns="0" bIns="0">
            <a:spAutoFit/>
          </a:bodyPr>
          <a:lstStyle/>
          <a:p>
            <a:pPr algn="ctr"/>
            <a:r>
              <a:rPr sz="952" b="0">
                <a:solidFill>
                  <a:srgbClr val="141C26"/>
                </a:solidFill>
                <a:latin typeface="Aptos"/>
              </a:rPr>
              <a:t>writes the spec</a:t>
            </a:r>
          </a:p>
        </p:txBody>
      </p:sp>
      <p:sp>
        <p:nvSpPr>
          <p:cNvPr id="52" name="Rounded Rectangle 51"/>
          <p:cNvSpPr/>
          <p:nvPr/>
        </p:nvSpPr>
        <p:spPr>
          <a:xfrm>
            <a:off x="2452162" y="1937534"/>
            <a:ext cx="1162878" cy="310100"/>
          </a:xfrm>
          <a:prstGeom prst="roundRect">
            <a:avLst>
              <a:gd name="adj" fmla="val 15000"/>
            </a:avLst>
          </a:prstGeom>
          <a:solidFill>
            <a:srgbClr val="FBEADB"/>
          </a:solidFill>
          <a:ln w="15875">
            <a:solidFill>
              <a:srgbClr val="9A45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350531" y="2000236"/>
            <a:ext cx="1366140" cy="157221"/>
          </a:xfrm>
          <a:prstGeom prst="rect">
            <a:avLst/>
          </a:prstGeom>
          <a:noFill/>
        </p:spPr>
        <p:txBody>
          <a:bodyPr wrap="none" anchor="t" lIns="0" rIns="0" tIns="0" bIns="0">
            <a:spAutoFit/>
          </a:bodyPr>
          <a:lstStyle/>
          <a:p>
            <a:pPr algn="ctr"/>
            <a:r>
              <a:rPr sz="952" b="0">
                <a:solidFill>
                  <a:srgbClr val="141C26"/>
                </a:solidFill>
                <a:latin typeface="Aptos"/>
              </a:rPr>
              <a:t>Confirms the spec</a:t>
            </a:r>
          </a:p>
        </p:txBody>
      </p:sp>
      <p:cxnSp>
        <p:nvCxnSpPr>
          <p:cNvPr id="54" name="Connector 53"/>
          <p:cNvCxnSpPr/>
          <p:nvPr/>
        </p:nvCxnSpPr>
        <p:spPr>
          <a:xfrm flipV="1">
            <a:off x="3459990" y="2263139"/>
            <a:ext cx="0" cy="1721060"/>
          </a:xfrm>
          <a:prstGeom prst="line">
            <a:avLst/>
          </a:prstGeom>
          <a:ln w="19050">
            <a:solidFill>
              <a:srgbClr val="9A4508"/>
            </a:solidFill>
            <a:tailEnd type="triangl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506505" y="3584278"/>
            <a:ext cx="1122447" cy="144119"/>
          </a:xfrm>
          <a:prstGeom prst="rect">
            <a:avLst/>
          </a:prstGeom>
          <a:noFill/>
        </p:spPr>
        <p:txBody>
          <a:bodyPr wrap="none" anchor="t" lIns="0" rIns="0" tIns="0" bIns="0">
            <a:spAutoFit/>
          </a:bodyPr>
          <a:lstStyle/>
          <a:p>
            <a:pPr algn="l"/>
            <a:r>
              <a:rPr sz="872" b="0">
                <a:solidFill>
                  <a:srgbClr val="4B5563"/>
                </a:solidFill>
                <a:latin typeface="Aptos"/>
              </a:rPr>
              <a:t>questions, spec</a:t>
            </a:r>
          </a:p>
        </p:txBody>
      </p:sp>
      <p:sp>
        <p:nvSpPr>
          <p:cNvPr id="56" name="Rounded Rectangle 55"/>
          <p:cNvSpPr/>
          <p:nvPr/>
        </p:nvSpPr>
        <p:spPr>
          <a:xfrm>
            <a:off x="4064686" y="2999629"/>
            <a:ext cx="496161" cy="232575"/>
          </a:xfrm>
          <a:prstGeom prst="roundRect">
            <a:avLst>
              <a:gd name="adj" fmla="val 50000"/>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79591" y="3023569"/>
            <a:ext cx="466351" cy="157221"/>
          </a:xfrm>
          <a:prstGeom prst="rect">
            <a:avLst/>
          </a:prstGeom>
          <a:noFill/>
        </p:spPr>
        <p:txBody>
          <a:bodyPr wrap="none" anchor="t" lIns="0" rIns="0" tIns="0" bIns="0">
            <a:spAutoFit/>
          </a:bodyPr>
          <a:lstStyle/>
          <a:p>
            <a:pPr algn="ctr"/>
            <a:r>
              <a:rPr sz="952" b="0">
                <a:solidFill>
                  <a:srgbClr val="EEF1F4"/>
                </a:solidFill>
                <a:latin typeface="Consolas"/>
              </a:rPr>
              <a:t>/plan</a:t>
            </a:r>
          </a:p>
        </p:txBody>
      </p:sp>
      <p:cxnSp>
        <p:nvCxnSpPr>
          <p:cNvPr id="58" name="Connector 57"/>
          <p:cNvCxnSpPr/>
          <p:nvPr/>
        </p:nvCxnSpPr>
        <p:spPr>
          <a:xfrm>
            <a:off x="4312767" y="3232205"/>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002666" y="3984199"/>
            <a:ext cx="1240403"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977289" y="3984882"/>
            <a:ext cx="1291158" cy="157221"/>
          </a:xfrm>
          <a:prstGeom prst="rect">
            <a:avLst/>
          </a:prstGeom>
          <a:noFill/>
        </p:spPr>
        <p:txBody>
          <a:bodyPr wrap="none" anchor="t" lIns="0" rIns="0" tIns="0" bIns="0">
            <a:spAutoFit/>
          </a:bodyPr>
          <a:lstStyle/>
          <a:p>
            <a:pPr algn="ctr"/>
            <a:r>
              <a:rPr sz="952" b="0">
                <a:solidFill>
                  <a:srgbClr val="141C26"/>
                </a:solidFill>
                <a:latin typeface="Aptos"/>
              </a:rPr>
              <a:t>Writes the plan:</a:t>
            </a:r>
          </a:p>
        </p:txBody>
      </p:sp>
      <p:sp>
        <p:nvSpPr>
          <p:cNvPr id="61" name="TextBox 60"/>
          <p:cNvSpPr txBox="1"/>
          <p:nvPr/>
        </p:nvSpPr>
        <p:spPr>
          <a:xfrm>
            <a:off x="3902306" y="4101169"/>
            <a:ext cx="1441123" cy="157221"/>
          </a:xfrm>
          <a:prstGeom prst="rect">
            <a:avLst/>
          </a:prstGeom>
          <a:noFill/>
        </p:spPr>
        <p:txBody>
          <a:bodyPr wrap="none" anchor="t" lIns="0" rIns="0" tIns="0" bIns="0">
            <a:spAutoFit/>
          </a:bodyPr>
          <a:lstStyle/>
          <a:p>
            <a:pPr algn="ctr"/>
            <a:r>
              <a:rPr sz="952" b="0">
                <a:solidFill>
                  <a:srgbClr val="141C26"/>
                </a:solidFill>
                <a:latin typeface="Aptos"/>
              </a:rPr>
              <a:t>tracks, role, tier</a:t>
            </a:r>
          </a:p>
        </p:txBody>
      </p:sp>
      <p:sp>
        <p:nvSpPr>
          <p:cNvPr id="62" name="Rounded Rectangle 61"/>
          <p:cNvSpPr/>
          <p:nvPr/>
        </p:nvSpPr>
        <p:spPr>
          <a:xfrm>
            <a:off x="4002666" y="2449200"/>
            <a:ext cx="1162878" cy="310100"/>
          </a:xfrm>
          <a:prstGeom prst="roundRect">
            <a:avLst>
              <a:gd name="adj" fmla="val 15000"/>
            </a:avLst>
          </a:prstGeom>
          <a:solidFill>
            <a:srgbClr val="FBEADB"/>
          </a:solidFill>
          <a:ln w="15875">
            <a:solidFill>
              <a:srgbClr val="9A45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01035" y="2511902"/>
            <a:ext cx="1366140" cy="157221"/>
          </a:xfrm>
          <a:prstGeom prst="rect">
            <a:avLst/>
          </a:prstGeom>
          <a:noFill/>
        </p:spPr>
        <p:txBody>
          <a:bodyPr wrap="none" anchor="t" lIns="0" rIns="0" tIns="0" bIns="0">
            <a:spAutoFit/>
          </a:bodyPr>
          <a:lstStyle/>
          <a:p>
            <a:pPr algn="ctr"/>
            <a:r>
              <a:rPr sz="952" b="0">
                <a:solidFill>
                  <a:srgbClr val="141C26"/>
                </a:solidFill>
                <a:latin typeface="Aptos"/>
              </a:rPr>
              <a:t>Approves the plan</a:t>
            </a:r>
          </a:p>
        </p:txBody>
      </p:sp>
      <p:cxnSp>
        <p:nvCxnSpPr>
          <p:cNvPr id="64" name="Connector 63"/>
          <p:cNvCxnSpPr/>
          <p:nvPr/>
        </p:nvCxnSpPr>
        <p:spPr>
          <a:xfrm flipV="1">
            <a:off x="5010494" y="2774806"/>
            <a:ext cx="0" cy="1209393"/>
          </a:xfrm>
          <a:prstGeom prst="line">
            <a:avLst/>
          </a:prstGeom>
          <a:ln w="19050">
            <a:solidFill>
              <a:srgbClr val="9A4508"/>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057009" y="3584278"/>
            <a:ext cx="366375" cy="144119"/>
          </a:xfrm>
          <a:prstGeom prst="rect">
            <a:avLst/>
          </a:prstGeom>
          <a:noFill/>
        </p:spPr>
        <p:txBody>
          <a:bodyPr wrap="none" anchor="t" lIns="0" rIns="0" tIns="0" bIns="0">
            <a:spAutoFit/>
          </a:bodyPr>
          <a:lstStyle/>
          <a:p>
            <a:pPr algn="l"/>
            <a:r>
              <a:rPr sz="872" b="0">
                <a:solidFill>
                  <a:srgbClr val="4B5563"/>
                </a:solidFill>
                <a:latin typeface="Aptos"/>
              </a:rPr>
              <a:t>plan</a:t>
            </a:r>
          </a:p>
        </p:txBody>
      </p:sp>
      <p:sp>
        <p:nvSpPr>
          <p:cNvPr id="66" name="Rounded Rectangle 65"/>
          <p:cNvSpPr/>
          <p:nvPr/>
        </p:nvSpPr>
        <p:spPr>
          <a:xfrm>
            <a:off x="5491150" y="2999629"/>
            <a:ext cx="806262" cy="232575"/>
          </a:xfrm>
          <a:prstGeom prst="roundRect">
            <a:avLst>
              <a:gd name="adj" fmla="val 50000"/>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98667" y="3023569"/>
            <a:ext cx="991228" cy="157221"/>
          </a:xfrm>
          <a:prstGeom prst="rect">
            <a:avLst/>
          </a:prstGeom>
          <a:noFill/>
        </p:spPr>
        <p:txBody>
          <a:bodyPr wrap="none" anchor="t" lIns="0" rIns="0" tIns="0" bIns="0">
            <a:spAutoFit/>
          </a:bodyPr>
          <a:lstStyle/>
          <a:p>
            <a:pPr algn="ctr"/>
            <a:r>
              <a:rPr sz="952" b="0">
                <a:solidFill>
                  <a:srgbClr val="EEF1F4"/>
                </a:solidFill>
                <a:latin typeface="Consolas"/>
              </a:rPr>
              <a:t>/orchestrate</a:t>
            </a:r>
          </a:p>
        </p:txBody>
      </p:sp>
      <p:cxnSp>
        <p:nvCxnSpPr>
          <p:cNvPr id="68" name="Connector 67"/>
          <p:cNvCxnSpPr/>
          <p:nvPr/>
        </p:nvCxnSpPr>
        <p:spPr>
          <a:xfrm>
            <a:off x="5894282" y="3232205"/>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5553171" y="3984199"/>
            <a:ext cx="1240403"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52811" y="3984882"/>
            <a:ext cx="1441123" cy="157221"/>
          </a:xfrm>
          <a:prstGeom prst="rect">
            <a:avLst/>
          </a:prstGeom>
          <a:noFill/>
        </p:spPr>
        <p:txBody>
          <a:bodyPr wrap="none" anchor="t" lIns="0" rIns="0" tIns="0" bIns="0">
            <a:spAutoFit/>
          </a:bodyPr>
          <a:lstStyle/>
          <a:p>
            <a:pPr algn="ctr"/>
            <a:r>
              <a:rPr sz="952" b="0">
                <a:solidFill>
                  <a:srgbClr val="141C26"/>
                </a:solidFill>
                <a:latin typeface="Aptos"/>
              </a:rPr>
              <a:t>Epic, track beads,</a:t>
            </a:r>
          </a:p>
        </p:txBody>
      </p:sp>
      <p:sp>
        <p:nvSpPr>
          <p:cNvPr id="71" name="TextBox 70"/>
          <p:cNvSpPr txBox="1"/>
          <p:nvPr/>
        </p:nvSpPr>
        <p:spPr>
          <a:xfrm>
            <a:off x="5527793" y="4101169"/>
            <a:ext cx="1291158" cy="157221"/>
          </a:xfrm>
          <a:prstGeom prst="rect">
            <a:avLst/>
          </a:prstGeom>
          <a:noFill/>
        </p:spPr>
        <p:txBody>
          <a:bodyPr wrap="none" anchor="t" lIns="0" rIns="0" tIns="0" bIns="0">
            <a:spAutoFit/>
          </a:bodyPr>
          <a:lstStyle/>
          <a:p>
            <a:pPr algn="ctr"/>
            <a:r>
              <a:rPr sz="952" b="0">
                <a:solidFill>
                  <a:srgbClr val="141C26"/>
                </a:solidFill>
                <a:latin typeface="Aptos"/>
              </a:rPr>
              <a:t>routes, worktree</a:t>
            </a:r>
          </a:p>
        </p:txBody>
      </p:sp>
      <p:sp>
        <p:nvSpPr>
          <p:cNvPr id="72" name="Rounded Rectangle 71"/>
          <p:cNvSpPr/>
          <p:nvPr/>
        </p:nvSpPr>
        <p:spPr>
          <a:xfrm>
            <a:off x="6390443" y="2999629"/>
            <a:ext cx="480656" cy="232575"/>
          </a:xfrm>
          <a:prstGeom prst="roundRect">
            <a:avLst>
              <a:gd name="adj" fmla="val 50000"/>
            </a:avLst>
          </a:prstGeom>
          <a:solidFill>
            <a:srgbClr val="FFFFFF"/>
          </a:solidFill>
          <a:ln w="15875">
            <a:solidFill>
              <a:srgbClr val="141C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397595" y="3023569"/>
            <a:ext cx="466351" cy="157221"/>
          </a:xfrm>
          <a:prstGeom prst="rect">
            <a:avLst/>
          </a:prstGeom>
          <a:noFill/>
        </p:spPr>
        <p:txBody>
          <a:bodyPr wrap="none" anchor="t" lIns="0" rIns="0" tIns="0" bIns="0">
            <a:spAutoFit/>
          </a:bodyPr>
          <a:lstStyle/>
          <a:p>
            <a:pPr algn="ctr"/>
            <a:r>
              <a:rPr sz="952" b="0">
                <a:solidFill>
                  <a:srgbClr val="141C26"/>
                </a:solidFill>
                <a:latin typeface="Consolas"/>
              </a:rPr>
              <a:t>/goal</a:t>
            </a:r>
          </a:p>
        </p:txBody>
      </p:sp>
      <p:cxnSp>
        <p:nvCxnSpPr>
          <p:cNvPr id="74" name="Connector 73"/>
          <p:cNvCxnSpPr/>
          <p:nvPr/>
        </p:nvCxnSpPr>
        <p:spPr>
          <a:xfrm flipV="1">
            <a:off x="6630771" y="3247710"/>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080413" y="3584278"/>
            <a:ext cx="503843" cy="144119"/>
          </a:xfrm>
          <a:prstGeom prst="rect">
            <a:avLst/>
          </a:prstGeom>
          <a:noFill/>
        </p:spPr>
        <p:txBody>
          <a:bodyPr wrap="none" anchor="t" lIns="0" rIns="0" tIns="0" bIns="0">
            <a:spAutoFit/>
          </a:bodyPr>
          <a:lstStyle/>
          <a:p>
            <a:pPr algn="r"/>
            <a:r>
              <a:rPr sz="872" b="0">
                <a:solidFill>
                  <a:srgbClr val="4B5563"/>
                </a:solidFill>
                <a:latin typeface="Aptos"/>
              </a:rPr>
              <a:t>prints</a:t>
            </a:r>
          </a:p>
        </p:txBody>
      </p:sp>
      <p:sp>
        <p:nvSpPr>
          <p:cNvPr id="76" name="Rounded Rectangle 75"/>
          <p:cNvSpPr/>
          <p:nvPr/>
        </p:nvSpPr>
        <p:spPr>
          <a:xfrm>
            <a:off x="7026150" y="2999629"/>
            <a:ext cx="620201" cy="232575"/>
          </a:xfrm>
          <a:prstGeom prst="roundRect">
            <a:avLst>
              <a:gd name="adj" fmla="val 50000"/>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990601" y="3023569"/>
            <a:ext cx="691299" cy="157221"/>
          </a:xfrm>
          <a:prstGeom prst="rect">
            <a:avLst/>
          </a:prstGeom>
          <a:noFill/>
        </p:spPr>
        <p:txBody>
          <a:bodyPr wrap="none" anchor="t" lIns="0" rIns="0" tIns="0" bIns="0">
            <a:spAutoFit/>
          </a:bodyPr>
          <a:lstStyle/>
          <a:p>
            <a:pPr algn="ctr"/>
            <a:r>
              <a:rPr sz="952" b="0">
                <a:solidFill>
                  <a:srgbClr val="EEF1F4"/>
                </a:solidFill>
                <a:latin typeface="Consolas"/>
              </a:rPr>
              <a:t>/execute</a:t>
            </a:r>
          </a:p>
        </p:txBody>
      </p:sp>
      <p:cxnSp>
        <p:nvCxnSpPr>
          <p:cNvPr id="78" name="Connector 77"/>
          <p:cNvCxnSpPr/>
          <p:nvPr/>
        </p:nvCxnSpPr>
        <p:spPr>
          <a:xfrm>
            <a:off x="7336251" y="3232205"/>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8344078" y="2960866"/>
            <a:ext cx="1007827" cy="310100"/>
          </a:xfrm>
          <a:prstGeom prst="roundRect">
            <a:avLst>
              <a:gd name="adj" fmla="val 15000"/>
            </a:avLst>
          </a:prstGeom>
          <a:solidFill>
            <a:srgbClr val="FBEADB"/>
          </a:solidFill>
          <a:ln w="15875">
            <a:solidFill>
              <a:srgbClr val="9A450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502343" y="2961549"/>
            <a:ext cx="691299" cy="157221"/>
          </a:xfrm>
          <a:prstGeom prst="rect">
            <a:avLst/>
          </a:prstGeom>
          <a:noFill/>
        </p:spPr>
        <p:txBody>
          <a:bodyPr wrap="none" anchor="t" lIns="0" rIns="0" tIns="0" bIns="0">
            <a:spAutoFit/>
          </a:bodyPr>
          <a:lstStyle/>
          <a:p>
            <a:pPr algn="ctr"/>
            <a:r>
              <a:rPr sz="952" b="0">
                <a:solidFill>
                  <a:srgbClr val="141C26"/>
                </a:solidFill>
                <a:latin typeface="Aptos"/>
              </a:rPr>
              <a:t>Does the</a:t>
            </a:r>
          </a:p>
        </p:txBody>
      </p:sp>
      <p:sp>
        <p:nvSpPr>
          <p:cNvPr id="81" name="TextBox 80"/>
          <p:cNvSpPr txBox="1"/>
          <p:nvPr/>
        </p:nvSpPr>
        <p:spPr>
          <a:xfrm>
            <a:off x="8164922" y="3077837"/>
            <a:ext cx="1366140" cy="157221"/>
          </a:xfrm>
          <a:prstGeom prst="rect">
            <a:avLst/>
          </a:prstGeom>
          <a:noFill/>
        </p:spPr>
        <p:txBody>
          <a:bodyPr wrap="none" anchor="t" lIns="0" rIns="0" tIns="0" bIns="0">
            <a:spAutoFit/>
          </a:bodyPr>
          <a:lstStyle/>
          <a:p>
            <a:pPr algn="ctr"/>
            <a:r>
              <a:rPr sz="952" b="0">
                <a:solidFill>
                  <a:srgbClr val="141C26"/>
                </a:solidFill>
                <a:latin typeface="Aptos"/>
              </a:rPr>
              <a:t>human-gate tracks</a:t>
            </a:r>
          </a:p>
        </p:txBody>
      </p:sp>
      <p:sp>
        <p:nvSpPr>
          <p:cNvPr id="82" name="Rounded Rectangle 81"/>
          <p:cNvSpPr/>
          <p:nvPr/>
        </p:nvSpPr>
        <p:spPr>
          <a:xfrm>
            <a:off x="7026150" y="3984199"/>
            <a:ext cx="775252"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880670" y="3984882"/>
            <a:ext cx="1066211" cy="157221"/>
          </a:xfrm>
          <a:prstGeom prst="rect">
            <a:avLst/>
          </a:prstGeom>
          <a:noFill/>
        </p:spPr>
        <p:txBody>
          <a:bodyPr wrap="none" anchor="t" lIns="0" rIns="0" tIns="0" bIns="0">
            <a:spAutoFit/>
          </a:bodyPr>
          <a:lstStyle/>
          <a:p>
            <a:pPr algn="ctr"/>
            <a:r>
              <a:rPr sz="952" b="0">
                <a:solidFill>
                  <a:srgbClr val="141C26"/>
                </a:solidFill>
                <a:latin typeface="Aptos"/>
              </a:rPr>
              <a:t>Claims track,</a:t>
            </a:r>
          </a:p>
        </p:txBody>
      </p:sp>
      <p:sp>
        <p:nvSpPr>
          <p:cNvPr id="84" name="TextBox 83"/>
          <p:cNvSpPr txBox="1"/>
          <p:nvPr/>
        </p:nvSpPr>
        <p:spPr>
          <a:xfrm>
            <a:off x="6955653" y="4101169"/>
            <a:ext cx="916246" cy="157221"/>
          </a:xfrm>
          <a:prstGeom prst="rect">
            <a:avLst/>
          </a:prstGeom>
          <a:noFill/>
        </p:spPr>
        <p:txBody>
          <a:bodyPr wrap="none" anchor="t" lIns="0" rIns="0" tIns="0" bIns="0">
            <a:spAutoFit/>
          </a:bodyPr>
          <a:lstStyle/>
          <a:p>
            <a:pPr algn="ctr"/>
            <a:r>
              <a:rPr sz="952" b="0">
                <a:solidFill>
                  <a:srgbClr val="141C26"/>
                </a:solidFill>
                <a:latin typeface="Aptos"/>
              </a:rPr>
              <a:t>tests first</a:t>
            </a:r>
          </a:p>
        </p:txBody>
      </p:sp>
      <p:cxnSp>
        <p:nvCxnSpPr>
          <p:cNvPr id="85" name="Connector 84"/>
          <p:cNvCxnSpPr/>
          <p:nvPr/>
        </p:nvCxnSpPr>
        <p:spPr>
          <a:xfrm>
            <a:off x="7801402" y="4139250"/>
            <a:ext cx="604697" cy="0"/>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8421604" y="3984199"/>
            <a:ext cx="930302"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278667" y="3984882"/>
            <a:ext cx="1216175" cy="157221"/>
          </a:xfrm>
          <a:prstGeom prst="rect">
            <a:avLst/>
          </a:prstGeom>
          <a:noFill/>
        </p:spPr>
        <p:txBody>
          <a:bodyPr wrap="none" anchor="t" lIns="0" rIns="0" tIns="0" bIns="0">
            <a:spAutoFit/>
          </a:bodyPr>
          <a:lstStyle/>
          <a:p>
            <a:pPr algn="ctr"/>
            <a:r>
              <a:rPr sz="952" b="0">
                <a:solidFill>
                  <a:srgbClr val="141C26"/>
                </a:solidFill>
                <a:latin typeface="Aptos"/>
              </a:rPr>
              <a:t>Fixes findings,</a:t>
            </a:r>
          </a:p>
        </p:txBody>
      </p:sp>
      <p:sp>
        <p:nvSpPr>
          <p:cNvPr id="88" name="TextBox 87"/>
          <p:cNvSpPr txBox="1"/>
          <p:nvPr/>
        </p:nvSpPr>
        <p:spPr>
          <a:xfrm>
            <a:off x="8391141" y="4101169"/>
            <a:ext cx="991228" cy="157221"/>
          </a:xfrm>
          <a:prstGeom prst="rect">
            <a:avLst/>
          </a:prstGeom>
          <a:noFill/>
        </p:spPr>
        <p:txBody>
          <a:bodyPr wrap="none" anchor="t" lIns="0" rIns="0" tIns="0" bIns="0">
            <a:spAutoFit/>
          </a:bodyPr>
          <a:lstStyle/>
          <a:p>
            <a:pPr algn="ctr"/>
            <a:r>
              <a:rPr sz="952" b="0">
                <a:solidFill>
                  <a:srgbClr val="141C26"/>
                </a:solidFill>
                <a:latin typeface="Aptos"/>
              </a:rPr>
              <a:t>closes track</a:t>
            </a:r>
          </a:p>
        </p:txBody>
      </p:sp>
      <p:cxnSp>
        <p:nvCxnSpPr>
          <p:cNvPr id="89" name="Connector 88"/>
          <p:cNvCxnSpPr/>
          <p:nvPr/>
        </p:nvCxnSpPr>
        <p:spPr>
          <a:xfrm>
            <a:off x="7491301" y="4294300"/>
            <a:ext cx="0" cy="186061"/>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7336251" y="4495866"/>
            <a:ext cx="852777" cy="310100"/>
          </a:xfrm>
          <a:prstGeom prst="roundRect">
            <a:avLst>
              <a:gd name="adj" fmla="val 15000"/>
            </a:avLst>
          </a:prstGeom>
          <a:solidFill>
            <a:srgbClr val="FFFFFF"/>
          </a:solidFill>
          <a:ln w="15875">
            <a:solidFill>
              <a:srgbClr val="2563E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342007" y="4496548"/>
            <a:ext cx="841263" cy="157221"/>
          </a:xfrm>
          <a:prstGeom prst="rect">
            <a:avLst/>
          </a:prstGeom>
          <a:noFill/>
        </p:spPr>
        <p:txBody>
          <a:bodyPr wrap="none" anchor="t" lIns="0" rIns="0" tIns="0" bIns="0">
            <a:spAutoFit/>
          </a:bodyPr>
          <a:lstStyle/>
          <a:p>
            <a:pPr algn="ctr"/>
            <a:r>
              <a:rPr sz="952" b="0">
                <a:solidFill>
                  <a:srgbClr val="141C26"/>
                </a:solidFill>
                <a:latin typeface="Aptos"/>
              </a:rPr>
              <a:t>Implements</a:t>
            </a:r>
          </a:p>
        </p:txBody>
      </p:sp>
      <p:sp>
        <p:nvSpPr>
          <p:cNvPr id="92" name="TextBox 91"/>
          <p:cNvSpPr txBox="1"/>
          <p:nvPr/>
        </p:nvSpPr>
        <p:spPr>
          <a:xfrm>
            <a:off x="7267025" y="4612836"/>
            <a:ext cx="991228" cy="157221"/>
          </a:xfrm>
          <a:prstGeom prst="rect">
            <a:avLst/>
          </a:prstGeom>
          <a:noFill/>
        </p:spPr>
        <p:txBody>
          <a:bodyPr wrap="none" anchor="t" lIns="0" rIns="0" tIns="0" bIns="0">
            <a:spAutoFit/>
          </a:bodyPr>
          <a:lstStyle/>
          <a:p>
            <a:pPr algn="ctr"/>
            <a:r>
              <a:rPr sz="952" b="0">
                <a:solidFill>
                  <a:srgbClr val="141C26"/>
                </a:solidFill>
                <a:latin typeface="Aptos"/>
              </a:rPr>
              <a:t>routed track</a:t>
            </a:r>
          </a:p>
        </p:txBody>
      </p:sp>
      <p:cxnSp>
        <p:nvCxnSpPr>
          <p:cNvPr id="93" name="Connector 92"/>
          <p:cNvCxnSpPr/>
          <p:nvPr/>
        </p:nvCxnSpPr>
        <p:spPr>
          <a:xfrm>
            <a:off x="8189028" y="4650916"/>
            <a:ext cx="348863" cy="0"/>
          </a:xfrm>
          <a:prstGeom prst="line">
            <a:avLst/>
          </a:prstGeom>
          <a:ln w="12700">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537891" y="4309805"/>
            <a:ext cx="0" cy="341111"/>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8235543" y="4483570"/>
            <a:ext cx="503843" cy="144119"/>
          </a:xfrm>
          <a:prstGeom prst="rect">
            <a:avLst/>
          </a:prstGeom>
          <a:noFill/>
        </p:spPr>
        <p:txBody>
          <a:bodyPr wrap="none" anchor="t" lIns="0" rIns="0" tIns="0" bIns="0">
            <a:spAutoFit/>
          </a:bodyPr>
          <a:lstStyle/>
          <a:p>
            <a:pPr algn="l"/>
            <a:r>
              <a:rPr sz="872" b="0">
                <a:solidFill>
                  <a:srgbClr val="4B5563"/>
                </a:solidFill>
                <a:latin typeface="Aptos"/>
              </a:rPr>
              <a:t>result</a:t>
            </a:r>
          </a:p>
        </p:txBody>
      </p:sp>
      <p:cxnSp>
        <p:nvCxnSpPr>
          <p:cNvPr id="96" name="Connector 95"/>
          <p:cNvCxnSpPr/>
          <p:nvPr/>
        </p:nvCxnSpPr>
        <p:spPr>
          <a:xfrm>
            <a:off x="8731704" y="4294300"/>
            <a:ext cx="0" cy="697727"/>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8181346" y="4840186"/>
            <a:ext cx="503843" cy="144119"/>
          </a:xfrm>
          <a:prstGeom prst="rect">
            <a:avLst/>
          </a:prstGeom>
          <a:noFill/>
        </p:spPr>
        <p:txBody>
          <a:bodyPr wrap="none" anchor="t" lIns="0" rIns="0" tIns="0" bIns="0">
            <a:spAutoFit/>
          </a:bodyPr>
          <a:lstStyle/>
          <a:p>
            <a:pPr algn="r"/>
            <a:r>
              <a:rPr sz="872" b="0">
                <a:solidFill>
                  <a:srgbClr val="4B5563"/>
                </a:solidFill>
                <a:latin typeface="Aptos"/>
              </a:rPr>
              <a:t>review</a:t>
            </a:r>
          </a:p>
        </p:txBody>
      </p:sp>
      <p:sp>
        <p:nvSpPr>
          <p:cNvPr id="98" name="Rounded Rectangle 97"/>
          <p:cNvSpPr/>
          <p:nvPr/>
        </p:nvSpPr>
        <p:spPr>
          <a:xfrm>
            <a:off x="8266553" y="5007532"/>
            <a:ext cx="914797"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90846" y="5008214"/>
            <a:ext cx="1066211" cy="157221"/>
          </a:xfrm>
          <a:prstGeom prst="rect">
            <a:avLst/>
          </a:prstGeom>
          <a:noFill/>
        </p:spPr>
        <p:txBody>
          <a:bodyPr wrap="none" anchor="t" lIns="0" rIns="0" tIns="0" bIns="0">
            <a:spAutoFit/>
          </a:bodyPr>
          <a:lstStyle/>
          <a:p>
            <a:pPr algn="ctr"/>
            <a:r>
              <a:rPr sz="952" b="0">
                <a:solidFill>
                  <a:srgbClr val="141C26"/>
                </a:solidFill>
                <a:latin typeface="Aptos"/>
              </a:rPr>
              <a:t>Review ledger</a:t>
            </a:r>
          </a:p>
        </p:txBody>
      </p:sp>
      <p:sp>
        <p:nvSpPr>
          <p:cNvPr id="100" name="TextBox 99"/>
          <p:cNvSpPr txBox="1"/>
          <p:nvPr/>
        </p:nvSpPr>
        <p:spPr>
          <a:xfrm>
            <a:off x="8265829" y="5134782"/>
            <a:ext cx="916246" cy="144119"/>
          </a:xfrm>
          <a:prstGeom prst="rect">
            <a:avLst/>
          </a:prstGeom>
          <a:noFill/>
        </p:spPr>
        <p:txBody>
          <a:bodyPr wrap="none" anchor="t" lIns="0" rIns="0" tIns="0" bIns="0">
            <a:spAutoFit/>
          </a:bodyPr>
          <a:lstStyle/>
          <a:p>
            <a:pPr algn="ctr"/>
            <a:r>
              <a:rPr sz="872" b="0">
                <a:solidFill>
                  <a:srgbClr val="4B5563"/>
                </a:solidFill>
                <a:latin typeface="Aptos"/>
              </a:rPr>
              <a:t>≤ max cycles</a:t>
            </a:r>
          </a:p>
        </p:txBody>
      </p:sp>
      <p:cxnSp>
        <p:nvCxnSpPr>
          <p:cNvPr id="101" name="Connector 100"/>
          <p:cNvCxnSpPr/>
          <p:nvPr/>
        </p:nvCxnSpPr>
        <p:spPr>
          <a:xfrm flipV="1">
            <a:off x="9119331" y="4309805"/>
            <a:ext cx="0" cy="697727"/>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165846" y="4840186"/>
            <a:ext cx="572577" cy="144119"/>
          </a:xfrm>
          <a:prstGeom prst="rect">
            <a:avLst/>
          </a:prstGeom>
          <a:noFill/>
        </p:spPr>
        <p:txBody>
          <a:bodyPr wrap="none" anchor="t" lIns="0" rIns="0" tIns="0" bIns="0">
            <a:spAutoFit/>
          </a:bodyPr>
          <a:lstStyle/>
          <a:p>
            <a:pPr algn="l"/>
            <a:r>
              <a:rPr sz="872" b="0">
                <a:solidFill>
                  <a:srgbClr val="4B5563"/>
                </a:solidFill>
                <a:latin typeface="Aptos"/>
              </a:rPr>
              <a:t>verdict</a:t>
            </a:r>
          </a:p>
        </p:txBody>
      </p:sp>
      <p:cxnSp>
        <p:nvCxnSpPr>
          <p:cNvPr id="103" name="Connector 102"/>
          <p:cNvCxnSpPr/>
          <p:nvPr/>
        </p:nvCxnSpPr>
        <p:spPr>
          <a:xfrm>
            <a:off x="7103675" y="4294300"/>
            <a:ext cx="0" cy="1209394"/>
          </a:xfrm>
          <a:prstGeom prst="line">
            <a:avLst/>
          </a:prstGeom>
          <a:ln w="12700">
            <a:solidFill>
              <a:srgbClr val="4B5563"/>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7150190" y="5344100"/>
            <a:ext cx="503843" cy="144119"/>
          </a:xfrm>
          <a:prstGeom prst="rect">
            <a:avLst/>
          </a:prstGeom>
          <a:noFill/>
        </p:spPr>
        <p:txBody>
          <a:bodyPr wrap="none" anchor="t" lIns="0" rIns="0" tIns="0" bIns="0">
            <a:spAutoFit/>
          </a:bodyPr>
          <a:lstStyle/>
          <a:p>
            <a:pPr algn="l"/>
            <a:r>
              <a:rPr sz="872" b="0">
                <a:solidFill>
                  <a:srgbClr val="4B5563"/>
                </a:solidFill>
                <a:latin typeface="Aptos"/>
              </a:rPr>
              <a:t>commit</a:t>
            </a:r>
          </a:p>
        </p:txBody>
      </p:sp>
      <p:sp>
        <p:nvSpPr>
          <p:cNvPr id="105" name="Rounded Rectangle 104"/>
          <p:cNvSpPr/>
          <p:nvPr/>
        </p:nvSpPr>
        <p:spPr>
          <a:xfrm>
            <a:off x="7026150" y="5519199"/>
            <a:ext cx="930302" cy="310100"/>
          </a:xfrm>
          <a:prstGeom prst="roundRect">
            <a:avLst>
              <a:gd name="adj" fmla="val 15000"/>
            </a:avLst>
          </a:prstGeom>
          <a:solidFill>
            <a:srgbClr val="FFFFFF"/>
          </a:solidFill>
          <a:ln w="15875">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033178" y="5519881"/>
            <a:ext cx="916246" cy="157221"/>
          </a:xfrm>
          <a:prstGeom prst="rect">
            <a:avLst/>
          </a:prstGeom>
          <a:noFill/>
        </p:spPr>
        <p:txBody>
          <a:bodyPr wrap="none" anchor="t" lIns="0" rIns="0" tIns="0" bIns="0">
            <a:spAutoFit/>
          </a:bodyPr>
          <a:lstStyle/>
          <a:p>
            <a:pPr algn="ctr"/>
            <a:r>
              <a:rPr sz="952" b="0">
                <a:solidFill>
                  <a:srgbClr val="141C26"/>
                </a:solidFill>
                <a:latin typeface="Aptos"/>
              </a:rPr>
              <a:t>pre-commit:</a:t>
            </a:r>
          </a:p>
        </p:txBody>
      </p:sp>
      <p:sp>
        <p:nvSpPr>
          <p:cNvPr id="107" name="TextBox 106"/>
          <p:cNvSpPr txBox="1"/>
          <p:nvPr/>
        </p:nvSpPr>
        <p:spPr>
          <a:xfrm>
            <a:off x="6883213" y="5636169"/>
            <a:ext cx="1216175" cy="157221"/>
          </a:xfrm>
          <a:prstGeom prst="rect">
            <a:avLst/>
          </a:prstGeom>
          <a:noFill/>
        </p:spPr>
        <p:txBody>
          <a:bodyPr wrap="none" anchor="t" lIns="0" rIns="0" tIns="0" bIns="0">
            <a:spAutoFit/>
          </a:bodyPr>
          <a:lstStyle/>
          <a:p>
            <a:pPr algn="ctr"/>
            <a:r>
              <a:rPr sz="952" b="0">
                <a:solidFill>
                  <a:srgbClr val="141C26"/>
                </a:solidFill>
                <a:latin typeface="Aptos"/>
              </a:rPr>
              <a:t>lint, typecheck</a:t>
            </a:r>
          </a:p>
        </p:txBody>
      </p:sp>
      <p:cxnSp>
        <p:nvCxnSpPr>
          <p:cNvPr id="108" name="Connector 107"/>
          <p:cNvCxnSpPr/>
          <p:nvPr/>
        </p:nvCxnSpPr>
        <p:spPr>
          <a:xfrm>
            <a:off x="9305391" y="4294300"/>
            <a:ext cx="0" cy="1209394"/>
          </a:xfrm>
          <a:prstGeom prst="line">
            <a:avLst/>
          </a:prstGeom>
          <a:ln w="12700">
            <a:solidFill>
              <a:srgbClr val="4B5563"/>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8892501" y="5344100"/>
            <a:ext cx="366375" cy="144119"/>
          </a:xfrm>
          <a:prstGeom prst="rect">
            <a:avLst/>
          </a:prstGeom>
          <a:noFill/>
        </p:spPr>
        <p:txBody>
          <a:bodyPr wrap="none" anchor="t" lIns="0" rIns="0" tIns="0" bIns="0">
            <a:spAutoFit/>
          </a:bodyPr>
          <a:lstStyle/>
          <a:p>
            <a:pPr algn="r"/>
            <a:r>
              <a:rPr sz="872" b="0">
                <a:solidFill>
                  <a:srgbClr val="4B5563"/>
                </a:solidFill>
                <a:latin typeface="Aptos"/>
              </a:rPr>
              <a:t>push</a:t>
            </a:r>
          </a:p>
        </p:txBody>
      </p:sp>
      <p:sp>
        <p:nvSpPr>
          <p:cNvPr id="110" name="Rounded Rectangle 109"/>
          <p:cNvSpPr/>
          <p:nvPr/>
        </p:nvSpPr>
        <p:spPr>
          <a:xfrm>
            <a:off x="8344078" y="5519199"/>
            <a:ext cx="1007827" cy="310100"/>
          </a:xfrm>
          <a:prstGeom prst="roundRect">
            <a:avLst>
              <a:gd name="adj" fmla="val 15000"/>
            </a:avLst>
          </a:prstGeom>
          <a:solidFill>
            <a:srgbClr val="FFFFFF"/>
          </a:solidFill>
          <a:ln w="15875">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64852" y="5519881"/>
            <a:ext cx="766281" cy="157221"/>
          </a:xfrm>
          <a:prstGeom prst="rect">
            <a:avLst/>
          </a:prstGeom>
          <a:noFill/>
        </p:spPr>
        <p:txBody>
          <a:bodyPr wrap="none" anchor="t" lIns="0" rIns="0" tIns="0" bIns="0">
            <a:spAutoFit/>
          </a:bodyPr>
          <a:lstStyle/>
          <a:p>
            <a:pPr algn="ctr"/>
            <a:r>
              <a:rPr sz="952" b="0">
                <a:solidFill>
                  <a:srgbClr val="141C26"/>
                </a:solidFill>
                <a:latin typeface="Aptos"/>
              </a:rPr>
              <a:t>pre-push:</a:t>
            </a:r>
          </a:p>
        </p:txBody>
      </p:sp>
      <p:sp>
        <p:nvSpPr>
          <p:cNvPr id="112" name="TextBox 111"/>
          <p:cNvSpPr txBox="1"/>
          <p:nvPr/>
        </p:nvSpPr>
        <p:spPr>
          <a:xfrm>
            <a:off x="8164922" y="5636169"/>
            <a:ext cx="1366140" cy="157221"/>
          </a:xfrm>
          <a:prstGeom prst="rect">
            <a:avLst/>
          </a:prstGeom>
          <a:noFill/>
        </p:spPr>
        <p:txBody>
          <a:bodyPr wrap="none" anchor="t" lIns="0" rIns="0" tIns="0" bIns="0">
            <a:spAutoFit/>
          </a:bodyPr>
          <a:lstStyle/>
          <a:p>
            <a:pPr algn="ctr"/>
            <a:r>
              <a:rPr sz="952" b="0">
                <a:solidFill>
                  <a:srgbClr val="141C26"/>
                </a:solidFill>
                <a:latin typeface="Aptos"/>
              </a:rPr>
              <a:t>tests, build, e2e</a:t>
            </a:r>
          </a:p>
        </p:txBody>
      </p:sp>
      <p:sp>
        <p:nvSpPr>
          <p:cNvPr id="113" name="Rounded Rectangle 112"/>
          <p:cNvSpPr/>
          <p:nvPr/>
        </p:nvSpPr>
        <p:spPr>
          <a:xfrm>
            <a:off x="9475947" y="2999629"/>
            <a:ext cx="372121" cy="232575"/>
          </a:xfrm>
          <a:prstGeom prst="roundRect">
            <a:avLst>
              <a:gd name="adj" fmla="val 50000"/>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428831" y="3023569"/>
            <a:ext cx="466351" cy="157221"/>
          </a:xfrm>
          <a:prstGeom prst="rect">
            <a:avLst/>
          </a:prstGeom>
          <a:noFill/>
        </p:spPr>
        <p:txBody>
          <a:bodyPr wrap="none" anchor="t" lIns="0" rIns="0" tIns="0" bIns="0">
            <a:spAutoFit/>
          </a:bodyPr>
          <a:lstStyle/>
          <a:p>
            <a:pPr algn="ctr"/>
            <a:r>
              <a:rPr sz="952" b="0">
                <a:solidFill>
                  <a:srgbClr val="EEF1F4"/>
                </a:solidFill>
                <a:latin typeface="Consolas"/>
              </a:rPr>
              <a:t>/ship</a:t>
            </a:r>
          </a:p>
        </p:txBody>
      </p:sp>
      <p:cxnSp>
        <p:nvCxnSpPr>
          <p:cNvPr id="115" name="Connector 114"/>
          <p:cNvCxnSpPr/>
          <p:nvPr/>
        </p:nvCxnSpPr>
        <p:spPr>
          <a:xfrm>
            <a:off x="9662007" y="3232205"/>
            <a:ext cx="0" cy="736489"/>
          </a:xfrm>
          <a:prstGeom prst="line">
            <a:avLst/>
          </a:prstGeom>
          <a:ln w="12700">
            <a:solidFill>
              <a:srgbClr val="4B5563"/>
            </a:solidFill>
            <a:tailEnd type="triangle"/>
          </a:ln>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9972108" y="2960866"/>
            <a:ext cx="1162878" cy="310100"/>
          </a:xfrm>
          <a:prstGeom prst="roundRect">
            <a:avLst>
              <a:gd name="adj" fmla="val 15000"/>
            </a:avLst>
          </a:prstGeom>
          <a:solidFill>
            <a:srgbClr val="FBEADB"/>
          </a:solidFill>
          <a:ln w="15875">
            <a:solidFill>
              <a:srgbClr val="9A45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832986" y="2961549"/>
            <a:ext cx="1441123" cy="157221"/>
          </a:xfrm>
          <a:prstGeom prst="rect">
            <a:avLst/>
          </a:prstGeom>
          <a:noFill/>
        </p:spPr>
        <p:txBody>
          <a:bodyPr wrap="none" anchor="t" lIns="0" rIns="0" tIns="0" bIns="0">
            <a:spAutoFit/>
          </a:bodyPr>
          <a:lstStyle/>
          <a:p>
            <a:pPr algn="ctr"/>
            <a:r>
              <a:rPr sz="952" b="0">
                <a:solidFill>
                  <a:srgbClr val="141C26"/>
                </a:solidFill>
                <a:latin typeface="Aptos"/>
              </a:rPr>
              <a:t>Chooses merge, PR,</a:t>
            </a:r>
          </a:p>
        </p:txBody>
      </p:sp>
      <p:sp>
        <p:nvSpPr>
          <p:cNvPr id="118" name="TextBox 117"/>
          <p:cNvSpPr txBox="1"/>
          <p:nvPr/>
        </p:nvSpPr>
        <p:spPr>
          <a:xfrm>
            <a:off x="9945459" y="3077837"/>
            <a:ext cx="1216175" cy="157221"/>
          </a:xfrm>
          <a:prstGeom prst="rect">
            <a:avLst/>
          </a:prstGeom>
          <a:noFill/>
        </p:spPr>
        <p:txBody>
          <a:bodyPr wrap="none" anchor="t" lIns="0" rIns="0" tIns="0" bIns="0">
            <a:spAutoFit/>
          </a:bodyPr>
          <a:lstStyle/>
          <a:p>
            <a:pPr algn="ctr"/>
            <a:r>
              <a:rPr sz="952" b="0">
                <a:solidFill>
                  <a:srgbClr val="141C26"/>
                </a:solidFill>
                <a:latin typeface="Aptos"/>
              </a:rPr>
              <a:t>keep or discard</a:t>
            </a:r>
          </a:p>
        </p:txBody>
      </p:sp>
      <p:sp>
        <p:nvSpPr>
          <p:cNvPr id="119" name="Rounded Rectangle 118"/>
          <p:cNvSpPr/>
          <p:nvPr/>
        </p:nvSpPr>
        <p:spPr>
          <a:xfrm>
            <a:off x="9894583" y="3472533"/>
            <a:ext cx="930302" cy="310100"/>
          </a:xfrm>
          <a:prstGeom prst="roundRect">
            <a:avLst>
              <a:gd name="adj" fmla="val 15000"/>
            </a:avLst>
          </a:prstGeom>
          <a:solidFill>
            <a:srgbClr val="FBEADB"/>
          </a:solidFill>
          <a:ln w="15875">
            <a:solidFill>
              <a:srgbClr val="9A450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751646" y="3535235"/>
            <a:ext cx="1216175" cy="157221"/>
          </a:xfrm>
          <a:prstGeom prst="rect">
            <a:avLst/>
          </a:prstGeom>
          <a:noFill/>
        </p:spPr>
        <p:txBody>
          <a:bodyPr wrap="none" anchor="t" lIns="0" rIns="0" tIns="0" bIns="0">
            <a:spAutoFit/>
          </a:bodyPr>
          <a:lstStyle/>
          <a:p>
            <a:pPr algn="ctr"/>
            <a:r>
              <a:rPr sz="952" b="0">
                <a:solidFill>
                  <a:srgbClr val="141C26"/>
                </a:solidFill>
                <a:latin typeface="Aptos"/>
              </a:rPr>
              <a:t>Approves the PR</a:t>
            </a:r>
          </a:p>
        </p:txBody>
      </p:sp>
      <p:sp>
        <p:nvSpPr>
          <p:cNvPr id="121" name="Rounded Rectangle 120"/>
          <p:cNvSpPr/>
          <p:nvPr/>
        </p:nvSpPr>
        <p:spPr>
          <a:xfrm>
            <a:off x="9739532" y="3984199"/>
            <a:ext cx="1317928" cy="310100"/>
          </a:xfrm>
          <a:prstGeom prst="roundRect">
            <a:avLst>
              <a:gd name="adj" fmla="val 15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90409" y="3984882"/>
            <a:ext cx="1216175" cy="157221"/>
          </a:xfrm>
          <a:prstGeom prst="rect">
            <a:avLst/>
          </a:prstGeom>
          <a:noFill/>
        </p:spPr>
        <p:txBody>
          <a:bodyPr wrap="none" anchor="t" lIns="0" rIns="0" tIns="0" bIns="0">
            <a:spAutoFit/>
          </a:bodyPr>
          <a:lstStyle/>
          <a:p>
            <a:pPr algn="ctr"/>
            <a:r>
              <a:rPr sz="952" b="0">
                <a:solidFill>
                  <a:srgbClr val="141C26"/>
                </a:solidFill>
                <a:latin typeface="Aptos"/>
              </a:rPr>
              <a:t>Checks ledgers,</a:t>
            </a:r>
          </a:p>
        </p:txBody>
      </p:sp>
      <p:sp>
        <p:nvSpPr>
          <p:cNvPr id="123" name="TextBox 122"/>
          <p:cNvSpPr txBox="1"/>
          <p:nvPr/>
        </p:nvSpPr>
        <p:spPr>
          <a:xfrm>
            <a:off x="9715426" y="4101169"/>
            <a:ext cx="1366140" cy="157221"/>
          </a:xfrm>
          <a:prstGeom prst="rect">
            <a:avLst/>
          </a:prstGeom>
          <a:noFill/>
        </p:spPr>
        <p:txBody>
          <a:bodyPr wrap="none" anchor="t" lIns="0" rIns="0" tIns="0" bIns="0">
            <a:spAutoFit/>
          </a:bodyPr>
          <a:lstStyle/>
          <a:p>
            <a:pPr algn="ctr"/>
            <a:r>
              <a:rPr sz="952" b="0">
                <a:solidFill>
                  <a:srgbClr val="141C26"/>
                </a:solidFill>
                <a:latin typeface="Aptos"/>
              </a:rPr>
              <a:t>merges, cleans up</a:t>
            </a:r>
          </a:p>
        </p:txBody>
      </p:sp>
      <p:cxnSp>
        <p:nvCxnSpPr>
          <p:cNvPr id="124" name="Connector 123"/>
          <p:cNvCxnSpPr/>
          <p:nvPr/>
        </p:nvCxnSpPr>
        <p:spPr>
          <a:xfrm flipV="1">
            <a:off x="10948926" y="3286472"/>
            <a:ext cx="0" cy="697727"/>
          </a:xfrm>
          <a:prstGeom prst="line">
            <a:avLst/>
          </a:prstGeom>
          <a:ln w="19050">
            <a:solidFill>
              <a:srgbClr val="9A4508"/>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0204684" y="3798139"/>
            <a:ext cx="0" cy="186060"/>
          </a:xfrm>
          <a:prstGeom prst="line">
            <a:avLst/>
          </a:prstGeom>
          <a:ln w="19050">
            <a:solidFill>
              <a:srgbClr val="9A4508"/>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398497" y="4294300"/>
            <a:ext cx="0" cy="1209394"/>
          </a:xfrm>
          <a:prstGeom prst="line">
            <a:avLst/>
          </a:prstGeom>
          <a:ln w="12700">
            <a:solidFill>
              <a:srgbClr val="4B5563"/>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0445012" y="5344100"/>
            <a:ext cx="366375" cy="144119"/>
          </a:xfrm>
          <a:prstGeom prst="rect">
            <a:avLst/>
          </a:prstGeom>
          <a:noFill/>
        </p:spPr>
        <p:txBody>
          <a:bodyPr wrap="none" anchor="t" lIns="0" rIns="0" tIns="0" bIns="0">
            <a:spAutoFit/>
          </a:bodyPr>
          <a:lstStyle/>
          <a:p>
            <a:pPr algn="l"/>
            <a:r>
              <a:rPr sz="872" b="0">
                <a:solidFill>
                  <a:srgbClr val="4B5563"/>
                </a:solidFill>
                <a:latin typeface="Aptos"/>
              </a:rPr>
              <a:t>push</a:t>
            </a:r>
          </a:p>
        </p:txBody>
      </p:sp>
      <p:sp>
        <p:nvSpPr>
          <p:cNvPr id="128" name="Rounded Rectangle 127"/>
          <p:cNvSpPr/>
          <p:nvPr/>
        </p:nvSpPr>
        <p:spPr>
          <a:xfrm>
            <a:off x="9894583" y="5519199"/>
            <a:ext cx="1007827" cy="310100"/>
          </a:xfrm>
          <a:prstGeom prst="roundRect">
            <a:avLst>
              <a:gd name="adj" fmla="val 15000"/>
            </a:avLst>
          </a:prstGeom>
          <a:solidFill>
            <a:srgbClr val="FFFFFF"/>
          </a:solidFill>
          <a:ln w="15875">
            <a:solidFill>
              <a:srgbClr val="4B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902882" y="5581901"/>
            <a:ext cx="991228" cy="157221"/>
          </a:xfrm>
          <a:prstGeom prst="rect">
            <a:avLst/>
          </a:prstGeom>
          <a:noFill/>
        </p:spPr>
        <p:txBody>
          <a:bodyPr wrap="none" anchor="t" lIns="0" rIns="0" tIns="0" bIns="0">
            <a:spAutoFit/>
          </a:bodyPr>
          <a:lstStyle/>
          <a:p>
            <a:pPr algn="ctr"/>
            <a:r>
              <a:rPr sz="952" b="0">
                <a:solidFill>
                  <a:srgbClr val="141C26"/>
                </a:solidFill>
                <a:latin typeface="Aptos"/>
              </a:rPr>
              <a:t>pre-push, CI</a:t>
            </a:r>
          </a:p>
        </p:txBody>
      </p:sp>
      <p:sp>
        <p:nvSpPr>
          <p:cNvPr id="130" name="Rectangle 129"/>
          <p:cNvSpPr/>
          <p:nvPr/>
        </p:nvSpPr>
        <p:spPr>
          <a:xfrm>
            <a:off x="901658" y="5930082"/>
            <a:ext cx="10388379" cy="790757"/>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56708" y="6122050"/>
            <a:ext cx="416363" cy="170322"/>
          </a:xfrm>
          <a:prstGeom prst="rect">
            <a:avLst/>
          </a:prstGeom>
          <a:noFill/>
        </p:spPr>
        <p:txBody>
          <a:bodyPr wrap="none" anchor="t" lIns="0" rIns="0" tIns="0" bIns="0">
            <a:spAutoFit/>
          </a:bodyPr>
          <a:lstStyle/>
          <a:p>
            <a:pPr algn="l"/>
            <a:r>
              <a:rPr sz="1031" b="1">
                <a:solidFill>
                  <a:srgbClr val="141C26"/>
                </a:solidFill>
                <a:latin typeface="Aptos Display"/>
              </a:rPr>
              <a:t>Gate</a:t>
            </a:r>
          </a:p>
        </p:txBody>
      </p:sp>
      <p:sp>
        <p:nvSpPr>
          <p:cNvPr id="132" name="TextBox 131"/>
          <p:cNvSpPr txBox="1"/>
          <p:nvPr/>
        </p:nvSpPr>
        <p:spPr>
          <a:xfrm>
            <a:off x="1056708" y="6266650"/>
            <a:ext cx="1191181" cy="144119"/>
          </a:xfrm>
          <a:prstGeom prst="rect">
            <a:avLst/>
          </a:prstGeom>
          <a:noFill/>
        </p:spPr>
        <p:txBody>
          <a:bodyPr wrap="none" anchor="t" lIns="0" rIns="0" tIns="0" bIns="0">
            <a:spAutoFit/>
          </a:bodyPr>
          <a:lstStyle/>
          <a:p>
            <a:pPr algn="l"/>
            <a:r>
              <a:rPr sz="872" b="0">
                <a:solidFill>
                  <a:srgbClr val="4B5563"/>
                </a:solidFill>
                <a:latin typeface="Aptos"/>
              </a:rPr>
              <a:t>closes the stage</a:t>
            </a:r>
          </a:p>
        </p:txBody>
      </p:sp>
      <p:sp>
        <p:nvSpPr>
          <p:cNvPr id="133" name="Diamond 132"/>
          <p:cNvSpPr/>
          <p:nvPr/>
        </p:nvSpPr>
        <p:spPr>
          <a:xfrm>
            <a:off x="3006591" y="6065875"/>
            <a:ext cx="131544" cy="131544"/>
          </a:xfrm>
          <a:prstGeom prst="diamond">
            <a:avLst/>
          </a:prstGeom>
          <a:solidFill>
            <a:srgbClr val="9A45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39329" y="6240865"/>
            <a:ext cx="1666070" cy="157221"/>
          </a:xfrm>
          <a:prstGeom prst="rect">
            <a:avLst/>
          </a:prstGeom>
          <a:noFill/>
        </p:spPr>
        <p:txBody>
          <a:bodyPr wrap="none" anchor="t" lIns="0" rIns="0" tIns="0" bIns="0">
            <a:spAutoFit/>
          </a:bodyPr>
          <a:lstStyle/>
          <a:p>
            <a:pPr algn="ctr"/>
            <a:r>
              <a:rPr sz="952" b="1">
                <a:solidFill>
                  <a:srgbClr val="141C26"/>
                </a:solidFill>
                <a:latin typeface="Consolas"/>
              </a:rPr>
              <a:t>requirement_confirmed</a:t>
            </a:r>
          </a:p>
        </p:txBody>
      </p:sp>
      <p:sp>
        <p:nvSpPr>
          <p:cNvPr id="135" name="TextBox 134"/>
          <p:cNvSpPr txBox="1"/>
          <p:nvPr/>
        </p:nvSpPr>
        <p:spPr>
          <a:xfrm>
            <a:off x="2133103" y="6375186"/>
            <a:ext cx="1878520" cy="144119"/>
          </a:xfrm>
          <a:prstGeom prst="rect">
            <a:avLst/>
          </a:prstGeom>
          <a:noFill/>
        </p:spPr>
        <p:txBody>
          <a:bodyPr wrap="none" anchor="t" lIns="0" rIns="0" tIns="0" bIns="0">
            <a:spAutoFit/>
          </a:bodyPr>
          <a:lstStyle/>
          <a:p>
            <a:pPr algn="ctr"/>
            <a:r>
              <a:rPr sz="872" b="0">
                <a:solidFill>
                  <a:srgbClr val="4B5563"/>
                </a:solidFill>
                <a:latin typeface="Aptos"/>
              </a:rPr>
              <a:t>recorded after you confirm</a:t>
            </a:r>
          </a:p>
        </p:txBody>
      </p:sp>
      <p:sp>
        <p:nvSpPr>
          <p:cNvPr id="136" name="Diamond 135"/>
          <p:cNvSpPr/>
          <p:nvPr/>
        </p:nvSpPr>
        <p:spPr>
          <a:xfrm>
            <a:off x="4557096" y="6065875"/>
            <a:ext cx="131544" cy="131544"/>
          </a:xfrm>
          <a:prstGeom prst="diamond">
            <a:avLst/>
          </a:prstGeom>
          <a:solidFill>
            <a:srgbClr val="9A45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089762" y="6240865"/>
            <a:ext cx="1066211" cy="157221"/>
          </a:xfrm>
          <a:prstGeom prst="rect">
            <a:avLst/>
          </a:prstGeom>
          <a:noFill/>
        </p:spPr>
        <p:txBody>
          <a:bodyPr wrap="none" anchor="t" lIns="0" rIns="0" tIns="0" bIns="0">
            <a:spAutoFit/>
          </a:bodyPr>
          <a:lstStyle/>
          <a:p>
            <a:pPr algn="ctr"/>
            <a:r>
              <a:rPr sz="952" b="1">
                <a:solidFill>
                  <a:srgbClr val="141C26"/>
                </a:solidFill>
                <a:latin typeface="Consolas"/>
              </a:rPr>
              <a:t>plan_approved</a:t>
            </a:r>
          </a:p>
        </p:txBody>
      </p:sp>
      <p:sp>
        <p:nvSpPr>
          <p:cNvPr id="138" name="TextBox 137"/>
          <p:cNvSpPr txBox="1"/>
          <p:nvPr/>
        </p:nvSpPr>
        <p:spPr>
          <a:xfrm>
            <a:off x="3683608" y="6375186"/>
            <a:ext cx="1878520" cy="144119"/>
          </a:xfrm>
          <a:prstGeom prst="rect">
            <a:avLst/>
          </a:prstGeom>
          <a:noFill/>
        </p:spPr>
        <p:txBody>
          <a:bodyPr wrap="none" anchor="t" lIns="0" rIns="0" tIns="0" bIns="0">
            <a:spAutoFit/>
          </a:bodyPr>
          <a:lstStyle/>
          <a:p>
            <a:pPr algn="ctr"/>
            <a:r>
              <a:rPr sz="872" b="0">
                <a:solidFill>
                  <a:srgbClr val="4B5563"/>
                </a:solidFill>
                <a:latin typeface="Aptos"/>
              </a:rPr>
              <a:t>recorded after you approve</a:t>
            </a:r>
          </a:p>
        </p:txBody>
      </p:sp>
      <p:sp>
        <p:nvSpPr>
          <p:cNvPr id="139" name="Diamond 138"/>
          <p:cNvSpPr/>
          <p:nvPr/>
        </p:nvSpPr>
        <p:spPr>
          <a:xfrm>
            <a:off x="6107600" y="6065875"/>
            <a:ext cx="131544" cy="131544"/>
          </a:xfrm>
          <a:prstGeom prst="diamond">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415320" y="6240865"/>
            <a:ext cx="1516105" cy="157221"/>
          </a:xfrm>
          <a:prstGeom prst="rect">
            <a:avLst/>
          </a:prstGeom>
          <a:noFill/>
        </p:spPr>
        <p:txBody>
          <a:bodyPr wrap="none" anchor="t" lIns="0" rIns="0" tIns="0" bIns="0">
            <a:spAutoFit/>
          </a:bodyPr>
          <a:lstStyle/>
          <a:p>
            <a:pPr algn="ctr"/>
            <a:r>
              <a:rPr sz="952" b="1">
                <a:solidFill>
                  <a:srgbClr val="141C26"/>
                </a:solidFill>
                <a:latin typeface="Consolas"/>
              </a:rPr>
              <a:t>orchestration_ready</a:t>
            </a:r>
          </a:p>
        </p:txBody>
      </p:sp>
      <p:sp>
        <p:nvSpPr>
          <p:cNvPr id="141" name="TextBox 140"/>
          <p:cNvSpPr txBox="1"/>
          <p:nvPr/>
        </p:nvSpPr>
        <p:spPr>
          <a:xfrm>
            <a:off x="5405947" y="6375186"/>
            <a:ext cx="1534851" cy="144119"/>
          </a:xfrm>
          <a:prstGeom prst="rect">
            <a:avLst/>
          </a:prstGeom>
          <a:noFill/>
        </p:spPr>
        <p:txBody>
          <a:bodyPr wrap="none" anchor="t" lIns="0" rIns="0" tIns="0" bIns="0">
            <a:spAutoFit/>
          </a:bodyPr>
          <a:lstStyle/>
          <a:p>
            <a:pPr algn="ctr"/>
            <a:r>
              <a:rPr sz="872" b="0">
                <a:solidFill>
                  <a:srgbClr val="4B5563"/>
                </a:solidFill>
                <a:latin typeface="Aptos"/>
              </a:rPr>
              <a:t>recorded by the agent</a:t>
            </a:r>
          </a:p>
        </p:txBody>
      </p:sp>
      <p:sp>
        <p:nvSpPr>
          <p:cNvPr id="142" name="Diamond 141"/>
          <p:cNvSpPr/>
          <p:nvPr/>
        </p:nvSpPr>
        <p:spPr>
          <a:xfrm>
            <a:off x="8123256" y="6065875"/>
            <a:ext cx="131544" cy="131544"/>
          </a:xfrm>
          <a:prstGeom prst="diamond">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281010" y="6240865"/>
            <a:ext cx="1816034" cy="157221"/>
          </a:xfrm>
          <a:prstGeom prst="rect">
            <a:avLst/>
          </a:prstGeom>
          <a:noFill/>
        </p:spPr>
        <p:txBody>
          <a:bodyPr wrap="none" anchor="t" lIns="0" rIns="0" tIns="0" bIns="0">
            <a:spAutoFit/>
          </a:bodyPr>
          <a:lstStyle/>
          <a:p>
            <a:pPr algn="ctr"/>
            <a:r>
              <a:rPr sz="952" b="1">
                <a:solidFill>
                  <a:srgbClr val="141C26"/>
                </a:solidFill>
                <a:latin typeface="Consolas"/>
              </a:rPr>
              <a:t>implementation_complete</a:t>
            </a:r>
          </a:p>
        </p:txBody>
      </p:sp>
      <p:sp>
        <p:nvSpPr>
          <p:cNvPr id="144" name="TextBox 143"/>
          <p:cNvSpPr txBox="1"/>
          <p:nvPr/>
        </p:nvSpPr>
        <p:spPr>
          <a:xfrm>
            <a:off x="7215401" y="6375186"/>
            <a:ext cx="1947254" cy="144119"/>
          </a:xfrm>
          <a:prstGeom prst="rect">
            <a:avLst/>
          </a:prstGeom>
          <a:noFill/>
        </p:spPr>
        <p:txBody>
          <a:bodyPr wrap="none" anchor="t" lIns="0" rIns="0" tIns="0" bIns="0">
            <a:spAutoFit/>
          </a:bodyPr>
          <a:lstStyle/>
          <a:p>
            <a:pPr algn="ctr"/>
            <a:r>
              <a:rPr sz="872" b="0">
                <a:solidFill>
                  <a:srgbClr val="4B5563"/>
                </a:solidFill>
                <a:latin typeface="Aptos"/>
              </a:rPr>
              <a:t>derived: every track closed</a:t>
            </a:r>
          </a:p>
        </p:txBody>
      </p:sp>
      <p:sp>
        <p:nvSpPr>
          <p:cNvPr id="145" name="Diamond 144"/>
          <p:cNvSpPr/>
          <p:nvPr/>
        </p:nvSpPr>
        <p:spPr>
          <a:xfrm>
            <a:off x="10293962" y="6065875"/>
            <a:ext cx="131544" cy="131544"/>
          </a:xfrm>
          <a:prstGeom prst="diamond">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051576" y="6240865"/>
            <a:ext cx="616316" cy="157221"/>
          </a:xfrm>
          <a:prstGeom prst="rect">
            <a:avLst/>
          </a:prstGeom>
          <a:noFill/>
        </p:spPr>
        <p:txBody>
          <a:bodyPr wrap="none" anchor="t" lIns="0" rIns="0" tIns="0" bIns="0">
            <a:spAutoFit/>
          </a:bodyPr>
          <a:lstStyle/>
          <a:p>
            <a:pPr algn="ctr"/>
            <a:r>
              <a:rPr sz="952" b="1">
                <a:solidFill>
                  <a:srgbClr val="141C26"/>
                </a:solidFill>
                <a:latin typeface="Consolas"/>
              </a:rPr>
              <a:t>shipped</a:t>
            </a:r>
          </a:p>
        </p:txBody>
      </p:sp>
      <p:sp>
        <p:nvSpPr>
          <p:cNvPr id="147" name="TextBox 146"/>
          <p:cNvSpPr txBox="1"/>
          <p:nvPr/>
        </p:nvSpPr>
        <p:spPr>
          <a:xfrm>
            <a:off x="9626675" y="6375186"/>
            <a:ext cx="1466117" cy="144119"/>
          </a:xfrm>
          <a:prstGeom prst="rect">
            <a:avLst/>
          </a:prstGeom>
          <a:noFill/>
        </p:spPr>
        <p:txBody>
          <a:bodyPr wrap="none" anchor="t" lIns="0" rIns="0" tIns="0" bIns="0">
            <a:spAutoFit/>
          </a:bodyPr>
          <a:lstStyle/>
          <a:p>
            <a:pPr algn="ctr"/>
            <a:r>
              <a:rPr sz="872" b="0">
                <a:solidFill>
                  <a:srgbClr val="4B5563"/>
                </a:solidFill>
                <a:latin typeface="Aptos"/>
              </a:rPr>
              <a:t>derived: epic closed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STAGE 1: DISCUSS</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How AI-Drafted Specs Get Verified</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Strict grammar, grounded inputs, and a human approval gate.</a:t>
            </a:r>
          </a:p>
        </p:txBody>
      </p:sp>
      <p:sp>
        <p:nvSpPr>
          <p:cNvPr id="6" name="Rounded Rectangle 5"/>
          <p:cNvSpPr/>
          <p:nvPr/>
        </p:nvSpPr>
        <p:spPr>
          <a:xfrm>
            <a:off x="548640" y="1920240"/>
            <a:ext cx="3564026"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1. Strict Grammar</a:t>
            </a:r>
          </a:p>
          <a:p>
            <a:pPr>
              <a:lnSpc>
                <a:spcPct val="120000"/>
              </a:lnSpc>
              <a:spcBef>
                <a:spcPts val="800"/>
              </a:spcBef>
            </a:pPr>
            <a:r>
              <a:rPr sz="1600" b="0">
                <a:solidFill>
                  <a:srgbClr val="141C26"/>
                </a:solidFill>
                <a:latin typeface="Aptos"/>
              </a:rPr>
              <a:t>EARS </a:t>
            </a:r>
            <a:r>
              <a:rPr sz="1600" b="0">
                <a:solidFill>
                  <a:srgbClr val="141C26"/>
                </a:solidFill>
                <a:latin typeface="Consolas"/>
              </a:rPr>
              <a:t>SHALL</a:t>
            </a:r>
            <a:r>
              <a:rPr sz="1600" b="0">
                <a:solidFill>
                  <a:srgbClr val="141C26"/>
                </a:solidFill>
                <a:latin typeface="Aptos"/>
              </a:rPr>
              <a:t>/</a:t>
            </a:r>
            <a:r>
              <a:rPr sz="1600" b="0">
                <a:solidFill>
                  <a:srgbClr val="141C26"/>
                </a:solidFill>
                <a:latin typeface="Consolas"/>
              </a:rPr>
              <a:t>MUST</a:t>
            </a:r>
            <a:r>
              <a:rPr sz="1600" b="0">
                <a:solidFill>
                  <a:srgbClr val="141C26"/>
                </a:solidFill>
                <a:latin typeface="Aptos"/>
              </a:rPr>
              <a:t> statements, each with a GIVEN/WHEN/THEN scenario.</a:t>
            </a:r>
          </a:p>
          <a:p>
            <a:pPr>
              <a:lnSpc>
                <a:spcPct val="120000"/>
              </a:lnSpc>
              <a:spcBef>
                <a:spcPts val="800"/>
              </a:spcBef>
            </a:pPr>
            <a:r>
              <a:rPr sz="1600" b="0">
                <a:solidFill>
                  <a:srgbClr val="141C26"/>
                </a:solidFill>
                <a:latin typeface="Consolas"/>
              </a:rPr>
              <a:t>specs lint</a:t>
            </a:r>
            <a:r>
              <a:rPr sz="1600" b="0">
                <a:solidFill>
                  <a:srgbClr val="141C26"/>
                </a:solidFill>
                <a:latin typeface="Aptos"/>
              </a:rPr>
              <a:t> fails on any gap.</a:t>
            </a:r>
          </a:p>
        </p:txBody>
      </p:sp>
      <p:sp>
        <p:nvSpPr>
          <p:cNvPr id="7" name="Rounded Rectangle 6"/>
          <p:cNvSpPr/>
          <p:nvPr/>
        </p:nvSpPr>
        <p:spPr>
          <a:xfrm>
            <a:off x="4313834" y="1920240"/>
            <a:ext cx="3564026"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2. Human PR Gate</a:t>
            </a:r>
          </a:p>
          <a:p>
            <a:pPr>
              <a:lnSpc>
                <a:spcPct val="120000"/>
              </a:lnSpc>
              <a:spcBef>
                <a:spcPts val="800"/>
              </a:spcBef>
            </a:pPr>
            <a:r>
              <a:rPr sz="1600" b="0">
                <a:solidFill>
                  <a:srgbClr val="141C26"/>
                </a:solidFill>
                <a:latin typeface="Aptos"/>
              </a:rPr>
              <a:t>Spec changes go through a pull request that needs BA approval.</a:t>
            </a:r>
          </a:p>
          <a:p>
            <a:pPr>
              <a:lnSpc>
                <a:spcPct val="120000"/>
              </a:lnSpc>
              <a:spcBef>
                <a:spcPts val="800"/>
              </a:spcBef>
            </a:pPr>
            <a:r>
              <a:rPr sz="1600" b="0">
                <a:solidFill>
                  <a:srgbClr val="141C26"/>
                </a:solidFill>
                <a:latin typeface="Aptos"/>
              </a:rPr>
              <a:t>No planning until it merges.</a:t>
            </a:r>
          </a:p>
        </p:txBody>
      </p:sp>
      <p:sp>
        <p:nvSpPr>
          <p:cNvPr id="8" name="Rounded Rectangle 7"/>
          <p:cNvSpPr/>
          <p:nvPr/>
        </p:nvSpPr>
        <p:spPr>
          <a:xfrm>
            <a:off x="8079028" y="1920240"/>
            <a:ext cx="3564026"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3. Grounded in the UI</a:t>
            </a:r>
          </a:p>
          <a:p>
            <a:pPr>
              <a:lnSpc>
                <a:spcPct val="120000"/>
              </a:lnSpc>
              <a:spcBef>
                <a:spcPts val="800"/>
              </a:spcBef>
            </a:pPr>
            <a:r>
              <a:rPr sz="1600" b="0">
                <a:solidFill>
                  <a:srgbClr val="141C26"/>
                </a:solidFill>
                <a:latin typeface="Aptos"/>
              </a:rPr>
              <a:t>Screenshots in </a:t>
            </a:r>
            <a:r>
              <a:rPr sz="1600" b="0">
                <a:solidFill>
                  <a:srgbClr val="141C26"/>
                </a:solidFill>
                <a:latin typeface="Consolas"/>
              </a:rPr>
              <a:t>docs/specs/&lt;cap&gt;/assets/</a:t>
            </a:r>
            <a:r>
              <a:rPr sz="1600" b="0">
                <a:solidFill>
                  <a:srgbClr val="141C26"/>
                </a:solidFill>
                <a:latin typeface="Aptos"/>
              </a:rPr>
              <a:t>.</a:t>
            </a:r>
          </a:p>
          <a:p>
            <a:pPr>
              <a:lnSpc>
                <a:spcPct val="120000"/>
              </a:lnSpc>
              <a:spcBef>
                <a:spcPts val="800"/>
              </a:spcBef>
            </a:pPr>
            <a:r>
              <a:rPr sz="1600" b="0">
                <a:solidFill>
                  <a:srgbClr val="141C26"/>
                </a:solidFill>
                <a:latin typeface="Aptos"/>
              </a:rPr>
              <a:t>The agent reads fields, rules, and error states from them.</a:t>
            </a:r>
          </a:p>
        </p:txBody>
      </p:sp>
      <p:sp>
        <p:nvSpPr>
          <p:cNvPr id="9" name="Rounded Rectangle 8"/>
          <p:cNvSpPr/>
          <p:nvPr/>
        </p:nvSpPr>
        <p:spPr>
          <a:xfrm>
            <a:off x="548640" y="5120640"/>
            <a:ext cx="11094415" cy="685800"/>
          </a:xfrm>
          <a:prstGeom prst="roundRect">
            <a:avLst>
              <a:gd name="adj" fmla="val 6000"/>
            </a:avLst>
          </a:prstGeom>
          <a:solidFill>
            <a:srgbClr val="FBEADB"/>
          </a:solidFill>
          <a:ln w="12700">
            <a:solidFill>
              <a:srgbClr val="DDB89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9A4508"/>
                </a:solidFill>
                <a:latin typeface="Aptos"/>
              </a:rPr>
              <a:t>Human in the loop: </a:t>
            </a:r>
            <a:r>
              <a:rPr sz="1700" b="0">
                <a:solidFill>
                  <a:srgbClr val="141C26"/>
                </a:solidFill>
                <a:latin typeface="Aptos"/>
              </a:rPr>
              <a:t>The agent drafts; the Business Analyst decides.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STAGES 2 &amp; 3: PLAN &amp; ORCHESTRATE</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Bounded Tracks, Isolated Worktrees, Routed Models</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Each track has a fixed scope, its own workspace, and a model sized to the work.</a:t>
            </a:r>
          </a:p>
        </p:txBody>
      </p:sp>
      <p:sp>
        <p:nvSpPr>
          <p:cNvPr id="6" name="Rounded Rectangle 5"/>
          <p:cNvSpPr/>
          <p:nvPr/>
        </p:nvSpPr>
        <p:spPr>
          <a:xfrm>
            <a:off x="548640" y="1920240"/>
            <a:ext cx="3564026"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Bounded Tracks</a:t>
            </a:r>
          </a:p>
          <a:p>
            <a:pPr marL="219456" indent="-182880">
              <a:lnSpc>
                <a:spcPct val="120000"/>
              </a:lnSpc>
              <a:spcBef>
                <a:spcPts val="800"/>
              </a:spcBef>
              <a:buChar char="•"/>
            </a:pPr>
            <a:r>
              <a:rPr sz="1600" b="0">
                <a:solidFill>
                  <a:srgbClr val="141C26"/>
                </a:solidFill>
                <a:latin typeface="Aptos"/>
              </a:rPr>
              <a:t>Each track owns one </a:t>
            </a:r>
            <a:r>
              <a:rPr sz="1600" b="0">
                <a:solidFill>
                  <a:srgbClr val="141C26"/>
                </a:solidFill>
                <a:latin typeface="Consolas"/>
              </a:rPr>
              <a:t>Area:</a:t>
            </a:r>
            <a:r>
              <a:rPr sz="1600" b="0">
                <a:solidFill>
                  <a:srgbClr val="141C26"/>
                </a:solidFill>
                <a:latin typeface="Aptos"/>
              </a:rPr>
              <a:t> directory.</a:t>
            </a:r>
          </a:p>
          <a:p>
            <a:pPr marL="219456" indent="-182880">
              <a:lnSpc>
                <a:spcPct val="120000"/>
              </a:lnSpc>
              <a:spcBef>
                <a:spcPts val="800"/>
              </a:spcBef>
              <a:buChar char="•"/>
            </a:pPr>
            <a:r>
              <a:rPr sz="1600" b="0">
                <a:solidFill>
                  <a:srgbClr val="141C26"/>
                </a:solidFill>
                <a:latin typeface="Aptos"/>
              </a:rPr>
              <a:t>Edits outside that area are rejected.</a:t>
            </a:r>
          </a:p>
          <a:p>
            <a:pPr marL="219456" indent="-182880">
              <a:lnSpc>
                <a:spcPct val="120000"/>
              </a:lnSpc>
              <a:spcBef>
                <a:spcPts val="800"/>
              </a:spcBef>
              <a:buChar char="•"/>
            </a:pPr>
            <a:r>
              <a:rPr sz="1600" b="0">
                <a:solidFill>
                  <a:srgbClr val="141C26"/>
                </a:solidFill>
                <a:latin typeface="Aptos"/>
              </a:rPr>
              <a:t>Each track maps to requirement IDs.</a:t>
            </a:r>
          </a:p>
        </p:txBody>
      </p:sp>
      <p:sp>
        <p:nvSpPr>
          <p:cNvPr id="7" name="Rounded Rectangle 6"/>
          <p:cNvSpPr/>
          <p:nvPr/>
        </p:nvSpPr>
        <p:spPr>
          <a:xfrm>
            <a:off x="4313834" y="1920240"/>
            <a:ext cx="3564026"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Worktree Isolation</a:t>
            </a:r>
          </a:p>
          <a:p>
            <a:pPr marL="219456" indent="-182880">
              <a:lnSpc>
                <a:spcPct val="120000"/>
              </a:lnSpc>
              <a:spcBef>
                <a:spcPts val="800"/>
              </a:spcBef>
              <a:buChar char="•"/>
            </a:pPr>
            <a:r>
              <a:rPr sz="1600" b="0">
                <a:solidFill>
                  <a:srgbClr val="141C26"/>
                </a:solidFill>
                <a:latin typeface="Aptos"/>
              </a:rPr>
              <a:t>One Git worktree per track.</a:t>
            </a:r>
          </a:p>
          <a:p>
            <a:pPr marL="219456" indent="-182880">
              <a:lnSpc>
                <a:spcPct val="120000"/>
              </a:lnSpc>
              <a:spcBef>
                <a:spcPts val="800"/>
              </a:spcBef>
              <a:buChar char="•"/>
            </a:pPr>
            <a:r>
              <a:rPr sz="1600" b="0">
                <a:solidFill>
                  <a:srgbClr val="141C26"/>
                </a:solidFill>
                <a:latin typeface="Aptos"/>
              </a:rPr>
              <a:t>Parallel work without branch contention.</a:t>
            </a:r>
          </a:p>
          <a:p>
            <a:pPr marL="219456" indent="-182880">
              <a:lnSpc>
                <a:spcPct val="120000"/>
              </a:lnSpc>
              <a:spcBef>
                <a:spcPts val="800"/>
              </a:spcBef>
              <a:buChar char="•"/>
            </a:pPr>
            <a:r>
              <a:rPr sz="1600" b="0">
                <a:solidFill>
                  <a:srgbClr val="141C26"/>
                </a:solidFill>
                <a:latin typeface="Aptos"/>
              </a:rPr>
              <a:t>Downstream tracks unlock as upstream merges.</a:t>
            </a:r>
          </a:p>
        </p:txBody>
      </p:sp>
      <p:sp>
        <p:nvSpPr>
          <p:cNvPr id="8" name="Rounded Rectangle 7"/>
          <p:cNvSpPr/>
          <p:nvPr/>
        </p:nvSpPr>
        <p:spPr>
          <a:xfrm>
            <a:off x="8079028" y="1920240"/>
            <a:ext cx="3564026"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Model Routing</a:t>
            </a:r>
          </a:p>
          <a:p>
            <a:pPr marL="219456" indent="-182880">
              <a:lnSpc>
                <a:spcPct val="120000"/>
              </a:lnSpc>
              <a:spcBef>
                <a:spcPts val="800"/>
              </a:spcBef>
              <a:buChar char="•"/>
            </a:pPr>
            <a:r>
              <a:rPr sz="1600" b="0">
                <a:solidFill>
                  <a:srgbClr val="141C26"/>
                </a:solidFill>
                <a:latin typeface="Aptos"/>
              </a:rPr>
              <a:t>Track complexity sets the reasoning tier.</a:t>
            </a:r>
          </a:p>
          <a:p>
            <a:pPr marL="219456" indent="-182880">
              <a:lnSpc>
                <a:spcPct val="120000"/>
              </a:lnSpc>
              <a:spcBef>
                <a:spcPts val="800"/>
              </a:spcBef>
              <a:buChar char="•"/>
            </a:pPr>
            <a:r>
              <a:rPr sz="1600" b="0">
                <a:solidFill>
                  <a:srgbClr val="141C26"/>
                </a:solidFill>
                <a:latin typeface="Aptos"/>
              </a:rPr>
              <a:t>No under-powered retry loops.</a:t>
            </a:r>
          </a:p>
          <a:p>
            <a:pPr marL="219456" indent="-182880">
              <a:lnSpc>
                <a:spcPct val="120000"/>
              </a:lnSpc>
              <a:spcBef>
                <a:spcPts val="800"/>
              </a:spcBef>
              <a:buChar char="•"/>
            </a:pPr>
            <a:r>
              <a:rPr sz="1600" b="0">
                <a:solidFill>
                  <a:srgbClr val="141C26"/>
                </a:solidFill>
                <a:latin typeface="Aptos"/>
              </a:rPr>
              <a:t>No premium models on boilerplate.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STAGE 4: EXECUTE</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Code Traced Back to the Spec</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Every requirement is tagged from spec to test and audited before ship.</a:t>
            </a:r>
          </a:p>
        </p:txBody>
      </p:sp>
      <p:sp>
        <p:nvSpPr>
          <p:cNvPr id="6" name="Rounded Rectangle 5"/>
          <p:cNvSpPr/>
          <p:nvPr/>
        </p:nvSpPr>
        <p:spPr>
          <a:xfrm>
            <a:off x="784691" y="2142998"/>
            <a:ext cx="1888411" cy="708154"/>
          </a:xfrm>
          <a:prstGeom prst="roundRect">
            <a:avLst>
              <a:gd name="adj" fmla="val 12000"/>
            </a:avLst>
          </a:prstGeom>
          <a:solidFill>
            <a:srgbClr val="EEF1F4"/>
          </a:solidFill>
          <a:ln w="15240">
            <a:solidFill>
              <a:srgbClr val="141C2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4630" bIns="14630"/>
          <a:lstStyle/>
          <a:p>
            <a:pPr algn="ctr">
              <a:lnSpc>
                <a:spcPct val="100000"/>
              </a:lnSpc>
              <a:spcBef>
                <a:spcPts val="0"/>
              </a:spcBef>
            </a:pPr>
            <a:r>
              <a:rPr sz="1282" b="1">
                <a:solidFill>
                  <a:srgbClr val="2563EB"/>
                </a:solidFill>
                <a:latin typeface="Consolas"/>
              </a:rPr>
              <a:t>REQ-AUTH-003</a:t>
            </a:r>
          </a:p>
          <a:p>
            <a:pPr algn="ctr">
              <a:lnSpc>
                <a:spcPct val="100000"/>
              </a:lnSpc>
              <a:spcBef>
                <a:spcPts val="0"/>
              </a:spcBef>
            </a:pPr>
            <a:r>
              <a:rPr sz="1175" b="0">
                <a:solidFill>
                  <a:srgbClr val="141C26"/>
                </a:solidFill>
                <a:latin typeface="Aptos"/>
              </a:rPr>
              <a:t>Living Spec Contract</a:t>
            </a:r>
          </a:p>
        </p:txBody>
      </p:sp>
      <p:sp>
        <p:nvSpPr>
          <p:cNvPr id="7" name="Rounded Rectangle 6"/>
          <p:cNvSpPr/>
          <p:nvPr/>
        </p:nvSpPr>
        <p:spPr>
          <a:xfrm>
            <a:off x="3617308" y="2142998"/>
            <a:ext cx="1888411" cy="708154"/>
          </a:xfrm>
          <a:prstGeom prst="roundRect">
            <a:avLst>
              <a:gd name="adj" fmla="val 12000"/>
            </a:avLst>
          </a:prstGeom>
          <a:solidFill>
            <a:srgbClr val="EEF1F4"/>
          </a:solidFill>
          <a:ln w="15240">
            <a:solidFill>
              <a:srgbClr val="141C2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4630" bIns="14630"/>
          <a:lstStyle/>
          <a:p>
            <a:pPr algn="ctr">
              <a:lnSpc>
                <a:spcPct val="100000"/>
              </a:lnSpc>
              <a:spcBef>
                <a:spcPts val="0"/>
              </a:spcBef>
            </a:pPr>
            <a:r>
              <a:rPr sz="1282" b="1">
                <a:solidFill>
                  <a:srgbClr val="2563EB"/>
                </a:solidFill>
                <a:latin typeface="Consolas"/>
              </a:rPr>
              <a:t>plan.md Track</a:t>
            </a:r>
          </a:p>
          <a:p>
            <a:pPr algn="ctr">
              <a:lnSpc>
                <a:spcPct val="100000"/>
              </a:lnSpc>
              <a:spcBef>
                <a:spcPts val="0"/>
              </a:spcBef>
            </a:pPr>
            <a:r>
              <a:rPr sz="1175" b="0">
                <a:solidFill>
                  <a:srgbClr val="141C26"/>
                </a:solidFill>
                <a:latin typeface="Aptos"/>
              </a:rPr>
              <a:t>Assigned to Engineer</a:t>
            </a:r>
          </a:p>
        </p:txBody>
      </p:sp>
      <p:sp>
        <p:nvSpPr>
          <p:cNvPr id="8" name="Rounded Rectangle 7"/>
          <p:cNvSpPr/>
          <p:nvPr/>
        </p:nvSpPr>
        <p:spPr>
          <a:xfrm>
            <a:off x="6449924" y="2142998"/>
            <a:ext cx="2124462" cy="708154"/>
          </a:xfrm>
          <a:prstGeom prst="roundRect">
            <a:avLst>
              <a:gd name="adj" fmla="val 12000"/>
            </a:avLst>
          </a:prstGeom>
          <a:solidFill>
            <a:srgbClr val="EAF0FA"/>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4630" bIns="14630"/>
          <a:lstStyle/>
          <a:p>
            <a:pPr algn="ctr">
              <a:lnSpc>
                <a:spcPct val="100000"/>
              </a:lnSpc>
              <a:spcBef>
                <a:spcPts val="0"/>
              </a:spcBef>
            </a:pPr>
            <a:r>
              <a:rPr sz="1282" b="1">
                <a:solidFill>
                  <a:srgbClr val="2563EB"/>
                </a:solidFill>
                <a:latin typeface="Consolas"/>
              </a:rPr>
              <a:t>Test: # REQ-AUTH-003</a:t>
            </a:r>
          </a:p>
          <a:p>
            <a:pPr algn="ctr">
              <a:lnSpc>
                <a:spcPct val="100000"/>
              </a:lnSpc>
              <a:spcBef>
                <a:spcPts val="0"/>
              </a:spcBef>
            </a:pPr>
            <a:r>
              <a:rPr sz="1175" b="0">
                <a:solidFill>
                  <a:srgbClr val="141C26"/>
                </a:solidFill>
                <a:latin typeface="Aptos"/>
              </a:rPr>
              <a:t>TDD Failing Test First</a:t>
            </a:r>
          </a:p>
        </p:txBody>
      </p:sp>
      <p:sp>
        <p:nvSpPr>
          <p:cNvPr id="9" name="Rounded Rectangle 8"/>
          <p:cNvSpPr/>
          <p:nvPr/>
        </p:nvSpPr>
        <p:spPr>
          <a:xfrm>
            <a:off x="9518592" y="2142998"/>
            <a:ext cx="1888411" cy="708154"/>
          </a:xfrm>
          <a:prstGeom prst="roundRect">
            <a:avLst>
              <a:gd name="adj" fmla="val 12000"/>
            </a:avLst>
          </a:prstGeom>
          <a:solidFill>
            <a:srgbClr val="DCFCE7"/>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4630" bIns="14630"/>
          <a:lstStyle/>
          <a:p>
            <a:pPr algn="ctr">
              <a:lnSpc>
                <a:spcPct val="100000"/>
              </a:lnSpc>
              <a:spcBef>
                <a:spcPts val="0"/>
              </a:spcBef>
            </a:pPr>
            <a:r>
              <a:rPr sz="1282" b="1">
                <a:solidFill>
                  <a:srgbClr val="15803D"/>
                </a:solidFill>
                <a:latin typeface="Consolas"/>
              </a:rPr>
              <a:t>specs trace Gate</a:t>
            </a:r>
          </a:p>
          <a:p>
            <a:pPr algn="ctr">
              <a:lnSpc>
                <a:spcPct val="100000"/>
              </a:lnSpc>
              <a:spcBef>
                <a:spcPts val="0"/>
              </a:spcBef>
            </a:pPr>
            <a:r>
              <a:rPr sz="1175" b="0">
                <a:solidFill>
                  <a:srgbClr val="15803D"/>
                </a:solidFill>
                <a:latin typeface="Aptos"/>
              </a:rPr>
              <a:t>100% Scenario Audit</a:t>
            </a:r>
          </a:p>
        </p:txBody>
      </p:sp>
      <p:cxnSp>
        <p:nvCxnSpPr>
          <p:cNvPr id="10" name="Connector 9"/>
          <p:cNvCxnSpPr/>
          <p:nvPr/>
        </p:nvCxnSpPr>
        <p:spPr>
          <a:xfrm>
            <a:off x="2673102" y="2497075"/>
            <a:ext cx="944206" cy="0"/>
          </a:xfrm>
          <a:prstGeom prst="line">
            <a:avLst/>
          </a:prstGeom>
          <a:ln w="19050">
            <a:solidFill>
              <a:srgbClr val="141C2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505719" y="2497075"/>
            <a:ext cx="944205" cy="0"/>
          </a:xfrm>
          <a:prstGeom prst="line">
            <a:avLst/>
          </a:prstGeom>
          <a:ln w="19050">
            <a:solidFill>
              <a:srgbClr val="141C2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574387" y="2497075"/>
            <a:ext cx="944205" cy="0"/>
          </a:xfrm>
          <a:prstGeom prst="line">
            <a:avLst/>
          </a:prstGeom>
          <a:ln w="19050">
            <a:solidFill>
              <a:srgbClr val="141C2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246120"/>
            <a:ext cx="5446623" cy="201168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Test First</a:t>
            </a:r>
          </a:p>
          <a:p>
            <a:pPr>
              <a:lnSpc>
                <a:spcPct val="120000"/>
              </a:lnSpc>
              <a:spcBef>
                <a:spcPts val="800"/>
              </a:spcBef>
            </a:pPr>
            <a:r>
              <a:rPr sz="1600" b="0">
                <a:solidFill>
                  <a:srgbClr val="141C26"/>
                </a:solidFill>
                <a:latin typeface="Aptos"/>
              </a:rPr>
              <a:t>A failing test tagged with the requirement ID comes before any implementation.</a:t>
            </a:r>
          </a:p>
        </p:txBody>
      </p:sp>
      <p:sp>
        <p:nvSpPr>
          <p:cNvPr id="14" name="Rounded Rectangle 13"/>
          <p:cNvSpPr/>
          <p:nvPr/>
        </p:nvSpPr>
        <p:spPr>
          <a:xfrm>
            <a:off x="6196431" y="3246120"/>
            <a:ext cx="5446623" cy="201168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Consolas"/>
              </a:rPr>
              <a:t>specs trace</a:t>
            </a:r>
            <a:r>
              <a:rPr sz="2000" b="1">
                <a:solidFill>
                  <a:srgbClr val="141C26"/>
                </a:solidFill>
                <a:latin typeface="Aptos Display"/>
              </a:rPr>
              <a:t> Gate</a:t>
            </a:r>
          </a:p>
          <a:p>
            <a:pPr>
              <a:lnSpc>
                <a:spcPct val="120000"/>
              </a:lnSpc>
              <a:spcBef>
                <a:spcPts val="800"/>
              </a:spcBef>
            </a:pPr>
            <a:r>
              <a:rPr sz="1600" b="0">
                <a:solidFill>
                  <a:srgbClr val="141C26"/>
                </a:solidFill>
                <a:latin typeface="Aptos"/>
              </a:rPr>
              <a:t>Every scenario must map to a test. Gaps block 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VERIFICATION</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Independent Review, Recorded in a Ledger</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Every finding gets a documented decision.</a:t>
            </a:r>
          </a:p>
        </p:txBody>
      </p:sp>
      <p:sp>
        <p:nvSpPr>
          <p:cNvPr id="6" name="Rounded Rectangle 5"/>
          <p:cNvSpPr/>
          <p:nvPr/>
        </p:nvSpPr>
        <p:spPr>
          <a:xfrm>
            <a:off x="548640" y="1920240"/>
            <a:ext cx="5446623"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Independent Review</a:t>
            </a:r>
          </a:p>
          <a:p>
            <a:pPr marL="219456" indent="-182880">
              <a:lnSpc>
                <a:spcPct val="120000"/>
              </a:lnSpc>
              <a:spcBef>
                <a:spcPts val="800"/>
              </a:spcBef>
              <a:buChar char="•"/>
            </a:pPr>
            <a:r>
              <a:rPr sz="1600" b="0">
                <a:solidFill>
                  <a:srgbClr val="141C26"/>
                </a:solidFill>
                <a:latin typeface="Aptos"/>
              </a:rPr>
              <a:t>A separate reviewer agent checks the diff.</a:t>
            </a:r>
          </a:p>
          <a:p>
            <a:pPr marL="219456" indent="-182880">
              <a:lnSpc>
                <a:spcPct val="120000"/>
              </a:lnSpc>
              <a:spcBef>
                <a:spcPts val="800"/>
              </a:spcBef>
              <a:buChar char="•"/>
            </a:pPr>
            <a:r>
              <a:rPr sz="1600" b="0">
                <a:solidFill>
                  <a:srgbClr val="141C26"/>
                </a:solidFill>
                <a:latin typeface="Aptos"/>
              </a:rPr>
              <a:t>Findings are logged with line and risk.</a:t>
            </a:r>
          </a:p>
          <a:p>
            <a:pPr marL="219456" indent="-182880">
              <a:lnSpc>
                <a:spcPct val="120000"/>
              </a:lnSpc>
              <a:spcBef>
                <a:spcPts val="800"/>
              </a:spcBef>
              <a:buChar char="•"/>
            </a:pPr>
            <a:r>
              <a:rPr sz="1600" b="0">
                <a:solidFill>
                  <a:srgbClr val="141C26"/>
                </a:solidFill>
                <a:latin typeface="Aptos"/>
              </a:rPr>
              <a:t>Review cycles are capped.</a:t>
            </a:r>
          </a:p>
        </p:txBody>
      </p:sp>
      <p:sp>
        <p:nvSpPr>
          <p:cNvPr id="7" name="Rounded Rectangle 6"/>
          <p:cNvSpPr/>
          <p:nvPr/>
        </p:nvSpPr>
        <p:spPr>
          <a:xfrm>
            <a:off x="6196431" y="1920240"/>
            <a:ext cx="5446623" cy="2971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Every Finding Resolved</a:t>
            </a:r>
          </a:p>
          <a:p>
            <a:pPr marL="219456" indent="-182880">
              <a:lnSpc>
                <a:spcPct val="120000"/>
              </a:lnSpc>
              <a:spcBef>
                <a:spcPts val="800"/>
              </a:spcBef>
              <a:buChar char="•"/>
            </a:pPr>
            <a:r>
              <a:rPr sz="1600" b="1">
                <a:solidFill>
                  <a:srgbClr val="141C26"/>
                </a:solidFill>
                <a:latin typeface="Aptos"/>
              </a:rPr>
              <a:t>Fix:</a:t>
            </a:r>
            <a:r>
              <a:rPr sz="1600" b="0">
                <a:solidFill>
                  <a:srgbClr val="141C26"/>
                </a:solidFill>
                <a:latin typeface="Aptos"/>
              </a:rPr>
              <a:t> correct and re-verify.</a:t>
            </a:r>
          </a:p>
          <a:p>
            <a:pPr marL="219456" indent="-182880">
              <a:lnSpc>
                <a:spcPct val="120000"/>
              </a:lnSpc>
              <a:spcBef>
                <a:spcPts val="800"/>
              </a:spcBef>
              <a:buChar char="•"/>
            </a:pPr>
            <a:r>
              <a:rPr sz="1600" b="1">
                <a:solidFill>
                  <a:srgbClr val="141C26"/>
                </a:solidFill>
                <a:latin typeface="Aptos"/>
              </a:rPr>
              <a:t>Dispute:</a:t>
            </a:r>
            <a:r>
              <a:rPr sz="1600" b="0">
                <a:solidFill>
                  <a:srgbClr val="141C26"/>
                </a:solidFill>
                <a:latin typeface="Aptos"/>
              </a:rPr>
              <a:t> show why the code is right.</a:t>
            </a:r>
          </a:p>
          <a:p>
            <a:pPr marL="219456" indent="-182880">
              <a:lnSpc>
                <a:spcPct val="120000"/>
              </a:lnSpc>
              <a:spcBef>
                <a:spcPts val="800"/>
              </a:spcBef>
              <a:buChar char="•"/>
            </a:pPr>
            <a:r>
              <a:rPr sz="1600" b="1">
                <a:solidFill>
                  <a:srgbClr val="141C26"/>
                </a:solidFill>
                <a:latin typeface="Aptos"/>
              </a:rPr>
              <a:t>Defer:</a:t>
            </a:r>
            <a:r>
              <a:rPr sz="1600" b="0">
                <a:solidFill>
                  <a:srgbClr val="141C26"/>
                </a:solidFill>
                <a:latin typeface="Aptos"/>
              </a:rPr>
              <a:t> record an issue or waiver.</a:t>
            </a:r>
          </a:p>
        </p:txBody>
      </p:sp>
      <p:sp>
        <p:nvSpPr>
          <p:cNvPr id="8" name="Rounded Rectangle 7"/>
          <p:cNvSpPr/>
          <p:nvPr/>
        </p:nvSpPr>
        <p:spPr>
          <a:xfrm>
            <a:off x="548640" y="5120640"/>
            <a:ext cx="11094415" cy="685800"/>
          </a:xfrm>
          <a:prstGeom prst="roundRect">
            <a:avLst>
              <a:gd name="adj" fmla="val 6000"/>
            </a:avLst>
          </a:prstGeom>
          <a:solidFill>
            <a:srgbClr val="EAF0FA"/>
          </a:solidFill>
          <a:ln w="12700">
            <a:solidFill>
              <a:srgbClr val="B3C8F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2563EB"/>
                </a:solidFill>
                <a:latin typeface="Aptos"/>
              </a:rPr>
              <a:t>Rule: </a:t>
            </a:r>
            <a:r>
              <a:rPr sz="1700" b="0">
                <a:solidFill>
                  <a:srgbClr val="141C26"/>
                </a:solidFill>
                <a:latin typeface="Aptos"/>
              </a:rPr>
              <a:t>No track closes with open findings.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VERIFICATION</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Evidence Over Self-Assessment</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No agent certifies its own work; every claim needs proof.</a:t>
            </a:r>
          </a:p>
        </p:txBody>
      </p:sp>
      <p:graphicFrame>
        <p:nvGraphicFramePr>
          <p:cNvPr id="6" name="Table 5"/>
          <p:cNvGraphicFramePr>
            <a:graphicFrameLocks noGrp="1"/>
          </p:cNvGraphicFramePr>
          <p:nvPr/>
        </p:nvGraphicFramePr>
        <p:xfrm>
          <a:off x="548640" y="1920240"/>
          <a:ext cx="11094413" cy="2834640"/>
        </p:xfrm>
        <a:graphic>
          <a:graphicData uri="http://schemas.openxmlformats.org/drawingml/2006/table">
            <a:tbl>
              <a:tblPr firstRow="1" bandRow="1">
                <a:tableStyleId>{5940675A-B579-460E-94D1-54222C63F5DA}</a:tableStyleId>
              </a:tblPr>
              <a:tblGrid>
                <a:gridCol w="2884547"/>
                <a:gridCol w="4881542"/>
                <a:gridCol w="3328324"/>
              </a:tblGrid>
              <a:tr h="457200">
                <a:tc>
                  <a:txBody>
                    <a:bodyPr wrap="square"/>
                    <a:lstStyle/>
                    <a:p>
                      <a:r>
                        <a:rPr sz="1600" b="1">
                          <a:solidFill>
                            <a:srgbClr val="141C26"/>
                          </a:solidFill>
                          <a:latin typeface="Aptos Display"/>
                        </a:rPr>
                        <a:t>Claim</a:t>
                      </a:r>
                    </a:p>
                  </a:txBody>
                  <a:tcPr anchor="ctr" marL="137160" marR="137160">
                    <a:solidFill>
                      <a:srgbClr val="EEF1F4"/>
                    </a:solidFill>
                  </a:tcPr>
                </a:tc>
                <a:tc>
                  <a:txBody>
                    <a:bodyPr wrap="square"/>
                    <a:lstStyle/>
                    <a:p>
                      <a:r>
                        <a:rPr sz="1600" b="1">
                          <a:solidFill>
                            <a:srgbClr val="141C26"/>
                          </a:solidFill>
                          <a:latin typeface="Aptos Display"/>
                        </a:rPr>
                        <a:t>Requires</a:t>
                      </a:r>
                    </a:p>
                  </a:txBody>
                  <a:tcPr anchor="ctr" marL="137160" marR="137160">
                    <a:solidFill>
                      <a:srgbClr val="EEF1F4"/>
                    </a:solidFill>
                  </a:tcPr>
                </a:tc>
                <a:tc>
                  <a:txBody>
                    <a:bodyPr wrap="square"/>
                    <a:lstStyle/>
                    <a:p>
                      <a:r>
                        <a:rPr sz="1600" b="1">
                          <a:solidFill>
                            <a:srgbClr val="141C26"/>
                          </a:solidFill>
                          <a:latin typeface="Aptos Display"/>
                        </a:rPr>
                        <a:t>Not enough</a:t>
                      </a:r>
                    </a:p>
                  </a:txBody>
                  <a:tcPr anchor="ctr" marL="137160" marR="137160">
                    <a:solidFill>
                      <a:srgbClr val="EEF1F4"/>
                    </a:solidFill>
                  </a:tcPr>
                </a:tc>
              </a:tr>
              <a:tr h="475488">
                <a:tc>
                  <a:txBody>
                    <a:bodyPr wrap="square"/>
                    <a:lstStyle/>
                    <a:p>
                      <a:r>
                        <a:rPr sz="1600" b="1">
                          <a:solidFill>
                            <a:srgbClr val="141C26"/>
                          </a:solidFill>
                          <a:latin typeface="Aptos"/>
                        </a:rPr>
                        <a:t>Tests pass</a:t>
                      </a:r>
                    </a:p>
                  </a:txBody>
                  <a:tcPr anchor="ctr" marL="137160" marR="137160">
                    <a:solidFill>
                      <a:srgbClr val="FFFFFF"/>
                    </a:solidFill>
                  </a:tcPr>
                </a:tc>
                <a:tc>
                  <a:txBody>
                    <a:bodyPr wrap="square"/>
                    <a:lstStyle/>
                    <a:p>
                      <a:r>
                        <a:rPr sz="1600" b="0">
                          <a:solidFill>
                            <a:srgbClr val="141C26"/>
                          </a:solidFill>
                          <a:latin typeface="Aptos"/>
                        </a:rPr>
                        <a:t>Test output with 0 failures</a:t>
                      </a:r>
                    </a:p>
                  </a:txBody>
                  <a:tcPr anchor="ctr" marL="137160" marR="137160">
                    <a:solidFill>
                      <a:srgbClr val="FFFFFF"/>
                    </a:solidFill>
                  </a:tcPr>
                </a:tc>
                <a:tc>
                  <a:txBody>
                    <a:bodyPr wrap="square"/>
                    <a:lstStyle/>
                    <a:p>
                      <a:r>
                        <a:rPr sz="1600" b="0">
                          <a:solidFill>
                            <a:srgbClr val="141C26"/>
                          </a:solidFill>
                          <a:latin typeface="Aptos"/>
                        </a:rPr>
                        <a:t>An earlier run</a:t>
                      </a:r>
                    </a:p>
                  </a:txBody>
                  <a:tcPr anchor="ctr" marL="137160" marR="137160">
                    <a:solidFill>
                      <a:srgbClr val="FFFFFF"/>
                    </a:solidFill>
                  </a:tcPr>
                </a:tc>
              </a:tr>
              <a:tr h="475488">
                <a:tc>
                  <a:txBody>
                    <a:bodyPr wrap="square"/>
                    <a:lstStyle/>
                    <a:p>
                      <a:r>
                        <a:rPr sz="1600" b="1">
                          <a:solidFill>
                            <a:srgbClr val="141C26"/>
                          </a:solidFill>
                          <a:latin typeface="Aptos"/>
                        </a:rPr>
                        <a:t>Bug fixed</a:t>
                      </a:r>
                    </a:p>
                  </a:txBody>
                  <a:tcPr anchor="ctr" marL="137160" marR="137160">
                    <a:solidFill>
                      <a:srgbClr val="FFFFFF"/>
                    </a:solidFill>
                  </a:tcPr>
                </a:tc>
                <a:tc>
                  <a:txBody>
                    <a:bodyPr wrap="square"/>
                    <a:lstStyle/>
                    <a:p>
                      <a:r>
                        <a:rPr sz="1600" b="0">
                          <a:solidFill>
                            <a:srgbClr val="141C26"/>
                          </a:solidFill>
                          <a:latin typeface="Aptos"/>
                        </a:rPr>
                        <a:t>The symptom's test goes red, then green</a:t>
                      </a:r>
                    </a:p>
                  </a:txBody>
                  <a:tcPr anchor="ctr" marL="137160" marR="137160">
                    <a:solidFill>
                      <a:srgbClr val="FFFFFF"/>
                    </a:solidFill>
                  </a:tcPr>
                </a:tc>
                <a:tc>
                  <a:txBody>
                    <a:bodyPr wrap="square"/>
                    <a:lstStyle/>
                    <a:p>
                      <a:r>
                        <a:rPr sz="1600" b="0">
                          <a:solidFill>
                            <a:srgbClr val="141C26"/>
                          </a:solidFill>
                          <a:latin typeface="Aptos"/>
                        </a:rPr>
                        <a:t>Code changed</a:t>
                      </a:r>
                    </a:p>
                  </a:txBody>
                  <a:tcPr anchor="ctr" marL="137160" marR="137160">
                    <a:solidFill>
                      <a:srgbClr val="FFFFFF"/>
                    </a:solidFill>
                  </a:tcPr>
                </a:tc>
              </a:tr>
              <a:tr h="475488">
                <a:tc>
                  <a:txBody>
                    <a:bodyPr wrap="square"/>
                    <a:lstStyle/>
                    <a:p>
                      <a:r>
                        <a:rPr sz="1600" b="1">
                          <a:solidFill>
                            <a:srgbClr val="141C26"/>
                          </a:solidFill>
                          <a:latin typeface="Aptos"/>
                        </a:rPr>
                        <a:t>Agent completed</a:t>
                      </a:r>
                    </a:p>
                  </a:txBody>
                  <a:tcPr anchor="ctr" marL="137160" marR="137160">
                    <a:solidFill>
                      <a:srgbClr val="FFFFFF"/>
                    </a:solidFill>
                  </a:tcPr>
                </a:tc>
                <a:tc>
                  <a:txBody>
                    <a:bodyPr wrap="square"/>
                    <a:lstStyle/>
                    <a:p>
                      <a:r>
                        <a:rPr sz="1600" b="0">
                          <a:solidFill>
                            <a:srgbClr val="141C26"/>
                          </a:solidFill>
                          <a:latin typeface="Aptos"/>
                        </a:rPr>
                        <a:t>The diff checked</a:t>
                      </a:r>
                    </a:p>
                  </a:txBody>
                  <a:tcPr anchor="ctr" marL="137160" marR="137160">
                    <a:solidFill>
                      <a:srgbClr val="FFFFFF"/>
                    </a:solidFill>
                  </a:tcPr>
                </a:tc>
                <a:tc>
                  <a:txBody>
                    <a:bodyPr wrap="square"/>
                    <a:lstStyle/>
                    <a:p>
                      <a:r>
                        <a:rPr sz="1600" b="0">
                          <a:solidFill>
                            <a:srgbClr val="141C26"/>
                          </a:solidFill>
                          <a:latin typeface="Aptos"/>
                        </a:rPr>
                        <a:t>The agent says so</a:t>
                      </a:r>
                    </a:p>
                  </a:txBody>
                  <a:tcPr anchor="ctr" marL="137160" marR="137160">
                    <a:solidFill>
                      <a:srgbClr val="FFFFFF"/>
                    </a:solidFill>
                  </a:tcPr>
                </a:tc>
              </a:tr>
              <a:tr h="475488">
                <a:tc>
                  <a:txBody>
                    <a:bodyPr wrap="square"/>
                    <a:lstStyle/>
                    <a:p>
                      <a:r>
                        <a:rPr sz="1600" b="1">
                          <a:solidFill>
                            <a:srgbClr val="141C26"/>
                          </a:solidFill>
                          <a:latin typeface="Aptos"/>
                        </a:rPr>
                        <a:t>Requirements met</a:t>
                      </a:r>
                    </a:p>
                  </a:txBody>
                  <a:tcPr anchor="ctr" marL="137160" marR="137160">
                    <a:solidFill>
                      <a:srgbClr val="FFFFFF"/>
                    </a:solidFill>
                  </a:tcPr>
                </a:tc>
                <a:tc>
                  <a:txBody>
                    <a:bodyPr wrap="square"/>
                    <a:lstStyle/>
                    <a:p>
                      <a:r>
                        <a:rPr sz="1600" b="0">
                          <a:solidFill>
                            <a:srgbClr val="141C26"/>
                          </a:solidFill>
                          <a:latin typeface="Aptos"/>
                        </a:rPr>
                        <a:t>The checklist checked</a:t>
                      </a:r>
                    </a:p>
                  </a:txBody>
                  <a:tcPr anchor="ctr" marL="137160" marR="137160">
                    <a:solidFill>
                      <a:srgbClr val="FFFFFF"/>
                    </a:solidFill>
                  </a:tcPr>
                </a:tc>
                <a:tc>
                  <a:txBody>
                    <a:bodyPr wrap="square"/>
                    <a:lstStyle/>
                    <a:p>
                      <a:r>
                        <a:rPr sz="1600" b="0">
                          <a:solidFill>
                            <a:srgbClr val="141C26"/>
                          </a:solidFill>
                          <a:latin typeface="Aptos"/>
                        </a:rPr>
                        <a:t>Tests passing</a:t>
                      </a:r>
                    </a:p>
                  </a:txBody>
                  <a:tcPr anchor="ctr" marL="137160" marR="137160">
                    <a:solidFill>
                      <a:srgbClr val="FFFFFF"/>
                    </a:solidFill>
                  </a:tcPr>
                </a:tc>
              </a:tr>
              <a:tr h="475488">
                <a:tc>
                  <a:txBody>
                    <a:bodyPr wrap="square"/>
                    <a:lstStyle/>
                    <a:p>
                      <a:r>
                        <a:rPr sz="1600" b="1">
                          <a:solidFill>
                            <a:srgbClr val="141C26"/>
                          </a:solidFill>
                          <a:latin typeface="Aptos"/>
                        </a:rPr>
                        <a:t>Waiting for merge</a:t>
                      </a:r>
                    </a:p>
                  </a:txBody>
                  <a:tcPr anchor="ctr" marL="137160" marR="137160">
                    <a:solidFill>
                      <a:srgbClr val="FFFFFF"/>
                    </a:solidFill>
                  </a:tcPr>
                </a:tc>
                <a:tc>
                  <a:txBody>
                    <a:bodyPr wrap="square"/>
                    <a:lstStyle/>
                    <a:p>
                      <a:r>
                        <a:rPr sz="1600" b="0">
                          <a:solidFill>
                            <a:srgbClr val="141C26"/>
                          </a:solidFill>
                          <a:latin typeface="Aptos"/>
                        </a:rPr>
                        <a:t>A pushed branch and a real PR link</a:t>
                      </a:r>
                    </a:p>
                  </a:txBody>
                  <a:tcPr anchor="ctr" marL="137160" marR="137160">
                    <a:solidFill>
                      <a:srgbClr val="FFFFFF"/>
                    </a:solidFill>
                  </a:tcPr>
                </a:tc>
                <a:tc>
                  <a:txBody>
                    <a:bodyPr wrap="square"/>
                    <a:lstStyle/>
                    <a:p>
                      <a:r>
                        <a:rPr sz="1600" b="0">
                          <a:solidFill>
                            <a:srgbClr val="141C26"/>
                          </a:solidFill>
                          <a:latin typeface="Aptos"/>
                        </a:rPr>
                        <a:t>Uncommitted code</a:t>
                      </a:r>
                    </a:p>
                  </a:txBody>
                  <a:tcPr anchor="ctr" marL="137160" marR="137160">
                    <a:solidFill>
                      <a:srgbClr val="FFFFFF"/>
                    </a:solidFill>
                  </a:tcPr>
                </a:tc>
              </a:tr>
            </a:tbl>
          </a:graphicData>
        </a:graphic>
      </p:graphicFrame>
      <p:sp>
        <p:nvSpPr>
          <p:cNvPr id="7" name="Rounded Rectangle 6"/>
          <p:cNvSpPr/>
          <p:nvPr/>
        </p:nvSpPr>
        <p:spPr>
          <a:xfrm>
            <a:off x="548640" y="5212080"/>
            <a:ext cx="11094415" cy="685800"/>
          </a:xfrm>
          <a:prstGeom prst="roundRect">
            <a:avLst>
              <a:gd name="adj" fmla="val 6000"/>
            </a:avLst>
          </a:prstGeom>
          <a:solidFill>
            <a:srgbClr val="EAF0FA"/>
          </a:solidFill>
          <a:ln w="12700">
            <a:solidFill>
              <a:srgbClr val="B3C8F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2563EB"/>
                </a:solidFill>
                <a:latin typeface="Aptos"/>
              </a:rPr>
              <a:t>Handoff rule: </a:t>
            </a:r>
            <a:r>
              <a:rPr sz="1700" b="0">
                <a:solidFill>
                  <a:srgbClr val="141C26"/>
                </a:solidFill>
                <a:latin typeface="Aptos"/>
              </a:rPr>
              <a:t>Every report states what changed, what was validated, what was waived, and what risk remains.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QUALITY ENGINEERING</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Focused QA with </a:t>
            </a:r>
            <a:r>
              <a:rPr sz="3000" b="1">
                <a:solidFill>
                  <a:srgbClr val="141C26"/>
                </a:solidFill>
                <a:latin typeface="Consolas"/>
              </a:rPr>
              <a:t>gin-qa</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Test what the requirements say, and re-review only what changed.</a:t>
            </a:r>
          </a:p>
        </p:txBody>
      </p:sp>
      <p:sp>
        <p:nvSpPr>
          <p:cNvPr id="6" name="Rounded Rectangle 5"/>
          <p:cNvSpPr/>
          <p:nvPr/>
        </p:nvSpPr>
        <p:spPr>
          <a:xfrm>
            <a:off x="548640" y="1920240"/>
            <a:ext cx="5446623"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The Test Generation Trap</a:t>
            </a:r>
          </a:p>
          <a:p>
            <a:pPr>
              <a:lnSpc>
                <a:spcPct val="120000"/>
              </a:lnSpc>
              <a:spcBef>
                <a:spcPts val="800"/>
              </a:spcBef>
            </a:pPr>
            <a:r>
              <a:rPr sz="1600" b="0">
                <a:solidFill>
                  <a:srgbClr val="141C26"/>
                </a:solidFill>
                <a:latin typeface="Aptos"/>
              </a:rPr>
              <a:t>Unconstrained AI produces hundreds of low-value tests, and QA drowns in triage.</a:t>
            </a:r>
          </a:p>
        </p:txBody>
      </p:sp>
      <p:sp>
        <p:nvSpPr>
          <p:cNvPr id="7" name="Rounded Rectangle 6"/>
          <p:cNvSpPr/>
          <p:nvPr/>
        </p:nvSpPr>
        <p:spPr>
          <a:xfrm>
            <a:off x="749808" y="3886200"/>
            <a:ext cx="5044287" cy="1737360"/>
          </a:xfrm>
          <a:prstGeom prst="roundRect">
            <a:avLst>
              <a:gd name="adj" fmla="val 6000"/>
            </a:avLst>
          </a:prstGeom>
          <a:solidFill>
            <a:srgbClr val="EAF0FA"/>
          </a:solidFill>
          <a:ln w="12700">
            <a:solidFill>
              <a:srgbClr val="B3C8F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2563EB"/>
                </a:solidFill>
                <a:latin typeface="Aptos"/>
              </a:rPr>
              <a:t>The Fix: </a:t>
            </a:r>
            <a:r>
              <a:rPr sz="1700" b="0">
                <a:solidFill>
                  <a:srgbClr val="141C26"/>
                </a:solidFill>
                <a:latin typeface="Aptos"/>
              </a:rPr>
              <a:t>Generate tests only from formal requirements, at the depth </a:t>
            </a:r>
            <a:r>
              <a:rPr sz="1700" b="0">
                <a:solidFill>
                  <a:srgbClr val="141C26"/>
                </a:solidFill>
                <a:latin typeface="Consolas"/>
              </a:rPr>
              <a:t>qa/guidelines.md</a:t>
            </a:r>
            <a:r>
              <a:rPr sz="1700" b="0">
                <a:solidFill>
                  <a:srgbClr val="141C26"/>
                </a:solidFill>
                <a:latin typeface="Aptos"/>
              </a:rPr>
              <a:t> sets.</a:t>
            </a:r>
          </a:p>
        </p:txBody>
      </p:sp>
      <p:sp>
        <p:nvSpPr>
          <p:cNvPr id="8" name="Rounded Rectangle 7"/>
          <p:cNvSpPr/>
          <p:nvPr/>
        </p:nvSpPr>
        <p:spPr>
          <a:xfrm>
            <a:off x="6196431" y="1920240"/>
            <a:ext cx="5446623"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Hash-Pinned Drift Detection</a:t>
            </a:r>
          </a:p>
          <a:p>
            <a:pPr>
              <a:lnSpc>
                <a:spcPct val="120000"/>
              </a:lnSpc>
              <a:spcBef>
                <a:spcPts val="800"/>
              </a:spcBef>
            </a:pPr>
            <a:r>
              <a:rPr sz="1600" b="0">
                <a:solidFill>
                  <a:srgbClr val="141C26"/>
                </a:solidFill>
                <a:latin typeface="Aptos"/>
              </a:rPr>
              <a:t>Each case pins its requirement's hash. </a:t>
            </a:r>
            <a:r>
              <a:rPr sz="1600" b="0">
                <a:solidFill>
                  <a:srgbClr val="141C26"/>
                </a:solidFill>
                <a:latin typeface="Consolas"/>
              </a:rPr>
              <a:t>gin-qa cases plan</a:t>
            </a:r>
            <a:r>
              <a:rPr sz="1600" b="0">
                <a:solidFill>
                  <a:srgbClr val="141C26"/>
                </a:solidFill>
                <a:latin typeface="Aptos"/>
              </a:rPr>
              <a:t> reports:</a:t>
            </a:r>
          </a:p>
          <a:p>
            <a:pPr marL="219456" indent="-182880">
              <a:lnSpc>
                <a:spcPct val="120000"/>
              </a:lnSpc>
              <a:spcBef>
                <a:spcPts val="800"/>
              </a:spcBef>
              <a:buChar char="•"/>
            </a:pPr>
            <a:r>
              <a:rPr sz="1600" b="0">
                <a:solidFill>
                  <a:srgbClr val="141C26"/>
                </a:solidFill>
                <a:latin typeface="Consolas"/>
              </a:rPr>
              <a:t>missing</a:t>
            </a:r>
            <a:r>
              <a:rPr sz="1600" b="0">
                <a:solidFill>
                  <a:srgbClr val="141C26"/>
                </a:solidFill>
                <a:latin typeface="Aptos"/>
              </a:rPr>
              <a:t>: new requirements.</a:t>
            </a:r>
          </a:p>
          <a:p>
            <a:pPr marL="219456" indent="-182880">
              <a:lnSpc>
                <a:spcPct val="120000"/>
              </a:lnSpc>
              <a:spcBef>
                <a:spcPts val="800"/>
              </a:spcBef>
              <a:buChar char="•"/>
            </a:pPr>
            <a:r>
              <a:rPr sz="1600" b="0">
                <a:solidFill>
                  <a:srgbClr val="141C26"/>
                </a:solidFill>
                <a:latin typeface="Consolas"/>
              </a:rPr>
              <a:t>stale</a:t>
            </a:r>
            <a:r>
              <a:rPr sz="1600" b="0">
                <a:solidFill>
                  <a:srgbClr val="141C26"/>
                </a:solidFill>
                <a:latin typeface="Aptos"/>
              </a:rPr>
              <a:t>: changed requirements.</a:t>
            </a:r>
          </a:p>
          <a:p>
            <a:pPr marL="219456" indent="-182880">
              <a:lnSpc>
                <a:spcPct val="120000"/>
              </a:lnSpc>
              <a:spcBef>
                <a:spcPts val="800"/>
              </a:spcBef>
              <a:buChar char="•"/>
            </a:pPr>
            <a:r>
              <a:rPr sz="1600" b="0">
                <a:solidFill>
                  <a:srgbClr val="141C26"/>
                </a:solidFill>
                <a:latin typeface="Consolas"/>
              </a:rPr>
              <a:t>obsolete</a:t>
            </a:r>
            <a:r>
              <a:rPr sz="1600" b="0">
                <a:solidFill>
                  <a:srgbClr val="141C26"/>
                </a:solidFill>
                <a:latin typeface="Aptos"/>
              </a:rPr>
              <a:t>: deleted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TOKEN ECONOMICS &amp; GOVERNANCE</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Token Economics: Three Levers</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Spend early on clarity, route by complexity, and audit locally.</a:t>
            </a:r>
          </a:p>
        </p:txBody>
      </p:sp>
      <p:sp>
        <p:nvSpPr>
          <p:cNvPr id="6" name="Rounded Rectangle 5"/>
          <p:cNvSpPr/>
          <p:nvPr/>
        </p:nvSpPr>
        <p:spPr>
          <a:xfrm>
            <a:off x="548640" y="1920240"/>
            <a:ext cx="3564026" cy="265176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1. Shift Left</a:t>
            </a:r>
          </a:p>
          <a:p>
            <a:pPr>
              <a:lnSpc>
                <a:spcPct val="120000"/>
              </a:lnSpc>
              <a:spcBef>
                <a:spcPts val="800"/>
              </a:spcBef>
            </a:pPr>
            <a:r>
              <a:rPr sz="1600" b="0">
                <a:solidFill>
                  <a:srgbClr val="141C26"/>
                </a:solidFill>
                <a:latin typeface="Aptos"/>
              </a:rPr>
              <a:t>Clarifying specs costs far less than late rework rippling through legacy modules.</a:t>
            </a:r>
          </a:p>
        </p:txBody>
      </p:sp>
      <p:sp>
        <p:nvSpPr>
          <p:cNvPr id="7" name="Rounded Rectangle 6"/>
          <p:cNvSpPr/>
          <p:nvPr/>
        </p:nvSpPr>
        <p:spPr>
          <a:xfrm>
            <a:off x="4313834" y="1920240"/>
            <a:ext cx="3564026" cy="265176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2. Complexity Routing</a:t>
            </a:r>
          </a:p>
          <a:p>
            <a:pPr>
              <a:lnSpc>
                <a:spcPct val="120000"/>
              </a:lnSpc>
              <a:spcBef>
                <a:spcPts val="800"/>
              </a:spcBef>
            </a:pPr>
            <a:r>
              <a:rPr sz="1600" b="0">
                <a:solidFill>
                  <a:srgbClr val="141C26"/>
                </a:solidFill>
                <a:latin typeface="Aptos"/>
              </a:rPr>
              <a:t>The right model tier per track means fewer retries and less overspend.</a:t>
            </a:r>
          </a:p>
        </p:txBody>
      </p:sp>
      <p:sp>
        <p:nvSpPr>
          <p:cNvPr id="8" name="Rounded Rectangle 7"/>
          <p:cNvSpPr/>
          <p:nvPr/>
        </p:nvSpPr>
        <p:spPr>
          <a:xfrm>
            <a:off x="8079028" y="1920240"/>
            <a:ext cx="3564026" cy="265176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3. Local CLI Audits</a:t>
            </a:r>
          </a:p>
          <a:p>
            <a:pPr>
              <a:lnSpc>
                <a:spcPct val="120000"/>
              </a:lnSpc>
              <a:spcBef>
                <a:spcPts val="800"/>
              </a:spcBef>
            </a:pPr>
            <a:r>
              <a:rPr sz="1600" b="0">
                <a:solidFill>
                  <a:srgbClr val="141C26"/>
                </a:solidFill>
                <a:latin typeface="Aptos"/>
              </a:rPr>
              <a:t>Lint, trace, hash, and gate checks run locally at zero token cost.</a:t>
            </a:r>
          </a:p>
        </p:txBody>
      </p:sp>
      <p:sp>
        <p:nvSpPr>
          <p:cNvPr id="9" name="Rounded Rectangle 8"/>
          <p:cNvSpPr/>
          <p:nvPr/>
        </p:nvSpPr>
        <p:spPr>
          <a:xfrm>
            <a:off x="548640" y="4846320"/>
            <a:ext cx="11094415" cy="777240"/>
          </a:xfrm>
          <a:prstGeom prst="roundRect">
            <a:avLst>
              <a:gd name="adj" fmla="val 6000"/>
            </a:avLst>
          </a:prstGeom>
          <a:solidFill>
            <a:srgbClr val="DCFCE7"/>
          </a:solidFill>
          <a:ln w="12700">
            <a:solidFill>
              <a:srgbClr val="A9D4B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15803D"/>
                </a:solidFill>
                <a:latin typeface="Aptos"/>
              </a:rPr>
              <a:t>Principle: </a:t>
            </a:r>
            <a:r>
              <a:rPr sz="1700" b="0">
                <a:solidFill>
                  <a:srgbClr val="141C26"/>
                </a:solidFill>
                <a:latin typeface="Aptos"/>
              </a:rPr>
              <a:t>A small token investment up front prevents large downstream rework and retry costs.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74320"/>
          </a:xfrm>
          <a:prstGeom prst="rect">
            <a:avLst/>
          </a:prstGeom>
          <a:noFill/>
        </p:spPr>
        <p:txBody>
          <a:bodyPr wrap="square" anchor="t" lIns="0" rIns="0" tIns="0" bIns="0">
            <a:spAutoFit/>
          </a:bodyPr>
          <a:lstStyle/>
          <a:p>
            <a:pPr algn="l"/>
            <a:r>
              <a:rPr sz="1200" b="1">
                <a:solidFill>
                  <a:srgbClr val="2563EB"/>
                </a:solidFill>
                <a:latin typeface="Consolas"/>
              </a:rPr>
              <a:t>STAGE 5: SHIP</a:t>
            </a:r>
          </a:p>
        </p:txBody>
      </p:sp>
      <p:sp>
        <p:nvSpPr>
          <p:cNvPr id="3" name="TextBox 2"/>
          <p:cNvSpPr txBox="1"/>
          <p:nvPr/>
        </p:nvSpPr>
        <p:spPr>
          <a:xfrm>
            <a:off x="548640" y="621792"/>
            <a:ext cx="11094415" cy="566928"/>
          </a:xfrm>
          <a:prstGeom prst="rect">
            <a:avLst/>
          </a:prstGeom>
          <a:noFill/>
        </p:spPr>
        <p:txBody>
          <a:bodyPr wrap="square" anchor="b" lIns="0" rIns="0" tIns="0" bIns="0">
            <a:spAutoFit/>
          </a:bodyPr>
          <a:lstStyle/>
          <a:p>
            <a:pPr algn="l"/>
            <a:r>
              <a:rPr sz="3000" b="1">
                <a:solidFill>
                  <a:srgbClr val="141C26"/>
                </a:solidFill>
                <a:latin typeface="Aptos Display"/>
              </a:rPr>
              <a:t>Ship Safely, Keep Specs Alive</a:t>
            </a:r>
          </a:p>
        </p:txBody>
      </p:sp>
      <p:cxnSp>
        <p:nvCxnSpPr>
          <p:cNvPr id="4" name="Connector 3"/>
          <p:cNvCxnSpPr/>
          <p:nvPr/>
        </p:nvCxnSpPr>
        <p:spPr>
          <a:xfrm>
            <a:off x="548640" y="1280160"/>
            <a:ext cx="11094415"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Release and spec update happen in one step.</a:t>
            </a:r>
          </a:p>
        </p:txBody>
      </p:sp>
      <p:sp>
        <p:nvSpPr>
          <p:cNvPr id="6" name="Rounded Rectangle 5"/>
          <p:cNvSpPr/>
          <p:nvPr/>
        </p:nvSpPr>
        <p:spPr>
          <a:xfrm>
            <a:off x="548640" y="1920240"/>
            <a:ext cx="5446623"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The Ship Gate</a:t>
            </a:r>
          </a:p>
          <a:p>
            <a:pPr marL="219456" indent="-182880">
              <a:lnSpc>
                <a:spcPct val="120000"/>
              </a:lnSpc>
              <a:spcBef>
                <a:spcPts val="800"/>
              </a:spcBef>
              <a:buAutoNum type="arabicPeriod"/>
            </a:pPr>
            <a:r>
              <a:rPr sz="1600" b="0">
                <a:solidFill>
                  <a:srgbClr val="141C26"/>
                </a:solidFill>
                <a:latin typeface="Aptos"/>
              </a:rPr>
              <a:t>Full tests, lint, typecheck, and </a:t>
            </a:r>
            <a:r>
              <a:rPr sz="1600" b="0">
                <a:solidFill>
                  <a:srgbClr val="141C26"/>
                </a:solidFill>
                <a:latin typeface="Consolas"/>
              </a:rPr>
              <a:t>specs trace</a:t>
            </a:r>
            <a:r>
              <a:rPr sz="1600" b="0">
                <a:solidFill>
                  <a:srgbClr val="141C26"/>
                </a:solidFill>
                <a:latin typeface="Aptos"/>
              </a:rPr>
              <a:t>.</a:t>
            </a:r>
          </a:p>
          <a:p>
            <a:pPr marL="219456" indent="-182880">
              <a:lnSpc>
                <a:spcPct val="120000"/>
              </a:lnSpc>
              <a:spcBef>
                <a:spcPts val="800"/>
              </a:spcBef>
              <a:buAutoNum type="arabicPeriod"/>
            </a:pPr>
            <a:r>
              <a:rPr sz="1600" b="0">
                <a:solidFill>
                  <a:srgbClr val="141C26"/>
                </a:solidFill>
                <a:latin typeface="Consolas"/>
              </a:rPr>
              <a:t>specs archive</a:t>
            </a:r>
            <a:r>
              <a:rPr sz="1600" b="0">
                <a:solidFill>
                  <a:srgbClr val="141C26"/>
                </a:solidFill>
                <a:latin typeface="Aptos"/>
              </a:rPr>
              <a:t> merges the delta into </a:t>
            </a:r>
            <a:r>
              <a:rPr sz="1600" b="0">
                <a:solidFill>
                  <a:srgbClr val="141C26"/>
                </a:solidFill>
                <a:latin typeface="Consolas"/>
              </a:rPr>
              <a:t>spec.md</a:t>
            </a:r>
            <a:r>
              <a:rPr sz="1600" b="0">
                <a:solidFill>
                  <a:srgbClr val="141C26"/>
                </a:solidFill>
                <a:latin typeface="Aptos"/>
              </a:rPr>
              <a:t>.</a:t>
            </a:r>
          </a:p>
          <a:p>
            <a:pPr marL="219456" indent="-182880">
              <a:lnSpc>
                <a:spcPct val="120000"/>
              </a:lnSpc>
              <a:spcBef>
                <a:spcPts val="800"/>
              </a:spcBef>
              <a:buAutoNum type="arabicPeriod"/>
            </a:pPr>
            <a:r>
              <a:rPr sz="1600" b="0">
                <a:solidFill>
                  <a:srgbClr val="141C26"/>
                </a:solidFill>
                <a:latin typeface="Aptos"/>
              </a:rPr>
              <a:t>The change folder moves to the archive.</a:t>
            </a:r>
          </a:p>
          <a:p>
            <a:pPr marL="219456" indent="-182880">
              <a:lnSpc>
                <a:spcPct val="120000"/>
              </a:lnSpc>
              <a:spcBef>
                <a:spcPts val="800"/>
              </a:spcBef>
              <a:buAutoNum type="arabicPeriod"/>
            </a:pPr>
            <a:r>
              <a:rPr sz="1600" b="0">
                <a:solidFill>
                  <a:srgbClr val="141C26"/>
                </a:solidFill>
                <a:latin typeface="Aptos"/>
              </a:rPr>
              <a:t>Integration PR needs QE approval.</a:t>
            </a:r>
          </a:p>
        </p:txBody>
      </p:sp>
      <p:sp>
        <p:nvSpPr>
          <p:cNvPr id="7" name="Rounded Rectangle 6"/>
          <p:cNvSpPr/>
          <p:nvPr/>
        </p:nvSpPr>
        <p:spPr>
          <a:xfrm>
            <a:off x="6196431" y="1920240"/>
            <a:ext cx="5446623" cy="393192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Long-Term Health</a:t>
            </a:r>
          </a:p>
          <a:p>
            <a:pPr marL="219456" indent="-182880">
              <a:lnSpc>
                <a:spcPct val="120000"/>
              </a:lnSpc>
              <a:spcBef>
                <a:spcPts val="800"/>
              </a:spcBef>
              <a:buChar char="•"/>
            </a:pPr>
            <a:r>
              <a:rPr sz="1600" b="0">
                <a:solidFill>
                  <a:srgbClr val="141C26"/>
                </a:solidFill>
                <a:latin typeface="Consolas"/>
              </a:rPr>
              <a:t>docs/specs/</a:t>
            </a:r>
            <a:r>
              <a:rPr sz="1600" b="0">
                <a:solidFill>
                  <a:srgbClr val="141C26"/>
                </a:solidFill>
                <a:latin typeface="Aptos"/>
              </a:rPr>
              <a:t> stays the source of truth.</a:t>
            </a:r>
          </a:p>
          <a:p>
            <a:pPr marL="219456" indent="-182880">
              <a:lnSpc>
                <a:spcPct val="120000"/>
              </a:lnSpc>
              <a:spcBef>
                <a:spcPts val="800"/>
              </a:spcBef>
              <a:buChar char="•"/>
            </a:pPr>
            <a:r>
              <a:rPr sz="1600" b="0">
                <a:solidFill>
                  <a:srgbClr val="141C26"/>
                </a:solidFill>
                <a:latin typeface="Aptos"/>
              </a:rPr>
              <a:t>Legacy paths retire as modules ship.</a:t>
            </a:r>
          </a:p>
          <a:p>
            <a:pPr marL="219456" indent="-182880">
              <a:lnSpc>
                <a:spcPct val="120000"/>
              </a:lnSpc>
              <a:spcBef>
                <a:spcPts val="800"/>
              </a:spcBef>
              <a:buChar char="•"/>
            </a:pPr>
            <a:r>
              <a:rPr sz="1600" b="0">
                <a:solidFill>
                  <a:srgbClr val="141C26"/>
                </a:solidFill>
                <a:latin typeface="Aptos"/>
              </a:rPr>
              <a:t>Regression tests preserve business logic.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188720"/>
            <a:ext cx="11094415" cy="274320"/>
          </a:xfrm>
          <a:prstGeom prst="rect">
            <a:avLst/>
          </a:prstGeom>
          <a:noFill/>
        </p:spPr>
        <p:txBody>
          <a:bodyPr wrap="square" anchor="t" lIns="0" rIns="0" tIns="0" bIns="0">
            <a:spAutoFit/>
          </a:bodyPr>
          <a:lstStyle/>
          <a:p>
            <a:pPr algn="l"/>
            <a:r>
              <a:rPr sz="1200" b="1">
                <a:solidFill>
                  <a:srgbClr val="2563EB"/>
                </a:solidFill>
                <a:latin typeface="Consolas"/>
              </a:rPr>
              <a:t>SUMMARY &amp; ACTION PLAN</a:t>
            </a:r>
          </a:p>
        </p:txBody>
      </p:sp>
      <p:sp>
        <p:nvSpPr>
          <p:cNvPr id="3" name="TextBox 2"/>
          <p:cNvSpPr txBox="1"/>
          <p:nvPr/>
        </p:nvSpPr>
        <p:spPr>
          <a:xfrm>
            <a:off x="548640" y="1463040"/>
            <a:ext cx="11094415" cy="594360"/>
          </a:xfrm>
          <a:prstGeom prst="rect">
            <a:avLst/>
          </a:prstGeom>
          <a:noFill/>
        </p:spPr>
        <p:txBody>
          <a:bodyPr wrap="square" anchor="t" lIns="0" rIns="0" tIns="0" bIns="0">
            <a:spAutoFit/>
          </a:bodyPr>
          <a:lstStyle/>
          <a:p>
            <a:pPr algn="l"/>
            <a:r>
              <a:rPr sz="3000" b="1">
                <a:solidFill>
                  <a:srgbClr val="141C26"/>
                </a:solidFill>
                <a:latin typeface="Aptos Display"/>
              </a:rPr>
              <a:t>The Modernization Governance Blueprint</a:t>
            </a:r>
          </a:p>
        </p:txBody>
      </p:sp>
      <p:sp>
        <p:nvSpPr>
          <p:cNvPr id="4" name="TextBox 3"/>
          <p:cNvSpPr txBox="1"/>
          <p:nvPr/>
        </p:nvSpPr>
        <p:spPr>
          <a:xfrm>
            <a:off x="548640" y="2103120"/>
            <a:ext cx="11094415" cy="365760"/>
          </a:xfrm>
          <a:prstGeom prst="rect">
            <a:avLst/>
          </a:prstGeom>
          <a:noFill/>
        </p:spPr>
        <p:txBody>
          <a:bodyPr wrap="square" anchor="t" lIns="0" rIns="0" tIns="0" bIns="0">
            <a:spAutoFit/>
          </a:bodyPr>
          <a:lstStyle/>
          <a:p>
            <a:pPr algn="l"/>
            <a:r>
              <a:rPr sz="1800" b="0">
                <a:solidFill>
                  <a:srgbClr val="4B5563"/>
                </a:solidFill>
                <a:latin typeface="Aptos Display"/>
              </a:rPr>
              <a:t>Controlled, verifiable delivery for engineering teams and leadership.</a:t>
            </a:r>
          </a:p>
        </p:txBody>
      </p:sp>
      <p:sp>
        <p:nvSpPr>
          <p:cNvPr id="5" name="Rounded Rectangle 4"/>
          <p:cNvSpPr/>
          <p:nvPr/>
        </p:nvSpPr>
        <p:spPr>
          <a:xfrm>
            <a:off x="548640" y="2743200"/>
            <a:ext cx="2622727" cy="1828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1. Verifiable Specs</a:t>
            </a:r>
          </a:p>
          <a:p>
            <a:pPr>
              <a:lnSpc>
                <a:spcPct val="120000"/>
              </a:lnSpc>
              <a:spcBef>
                <a:spcPts val="800"/>
              </a:spcBef>
            </a:pPr>
            <a:r>
              <a:rPr sz="1600" b="0">
                <a:solidFill>
                  <a:srgbClr val="141C26"/>
                </a:solidFill>
                <a:latin typeface="Aptos"/>
              </a:rPr>
              <a:t>Strict grammar, approved by BA pull request.</a:t>
            </a:r>
          </a:p>
        </p:txBody>
      </p:sp>
      <p:sp>
        <p:nvSpPr>
          <p:cNvPr id="6" name="Rounded Rectangle 5"/>
          <p:cNvSpPr/>
          <p:nvPr/>
        </p:nvSpPr>
        <p:spPr>
          <a:xfrm>
            <a:off x="3372535" y="2743200"/>
            <a:ext cx="2622727" cy="1828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2. Parallel Start</a:t>
            </a:r>
          </a:p>
          <a:p>
            <a:pPr>
              <a:lnSpc>
                <a:spcPct val="120000"/>
              </a:lnSpc>
              <a:spcBef>
                <a:spcPts val="800"/>
              </a:spcBef>
            </a:pPr>
            <a:r>
              <a:rPr sz="1600" b="0">
                <a:solidFill>
                  <a:srgbClr val="141C26"/>
                </a:solidFill>
                <a:latin typeface="Aptos"/>
              </a:rPr>
              <a:t>Unblocked epics first; setup and specs in parallel.</a:t>
            </a:r>
          </a:p>
        </p:txBody>
      </p:sp>
      <p:sp>
        <p:nvSpPr>
          <p:cNvPr id="7" name="Rounded Rectangle 6"/>
          <p:cNvSpPr/>
          <p:nvPr/>
        </p:nvSpPr>
        <p:spPr>
          <a:xfrm>
            <a:off x="6196431" y="2743200"/>
            <a:ext cx="2622727" cy="1828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3. Code Parity</a:t>
            </a:r>
          </a:p>
          <a:p>
            <a:pPr>
              <a:lnSpc>
                <a:spcPct val="120000"/>
              </a:lnSpc>
              <a:spcBef>
                <a:spcPts val="800"/>
              </a:spcBef>
            </a:pPr>
            <a:r>
              <a:rPr sz="1600" b="0">
                <a:solidFill>
                  <a:srgbClr val="141C26"/>
                </a:solidFill>
                <a:latin typeface="Aptos"/>
              </a:rPr>
              <a:t>Requirement tags and </a:t>
            </a:r>
            <a:r>
              <a:rPr sz="1600" b="0">
                <a:solidFill>
                  <a:srgbClr val="141C26"/>
                </a:solidFill>
                <a:latin typeface="Consolas"/>
              </a:rPr>
              <a:t>specs trace</a:t>
            </a:r>
            <a:r>
              <a:rPr sz="1600" b="0">
                <a:solidFill>
                  <a:srgbClr val="141C26"/>
                </a:solidFill>
                <a:latin typeface="Aptos"/>
              </a:rPr>
              <a:t> audits.</a:t>
            </a:r>
          </a:p>
        </p:txBody>
      </p:sp>
      <p:sp>
        <p:nvSpPr>
          <p:cNvPr id="8" name="Rounded Rectangle 7"/>
          <p:cNvSpPr/>
          <p:nvPr/>
        </p:nvSpPr>
        <p:spPr>
          <a:xfrm>
            <a:off x="9020327" y="2743200"/>
            <a:ext cx="2622727" cy="1828800"/>
          </a:xfrm>
          <a:prstGeom prst="roundRect">
            <a:avLst>
              <a:gd name="adj" fmla="val 6000"/>
            </a:avLst>
          </a:prstGeom>
          <a:solidFill>
            <a:srgbClr val="EEF1F4"/>
          </a:solidFill>
          <a:ln w="12700">
            <a:solidFill>
              <a:srgbClr val="CFD6D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0934" bIns="160934"/>
          <a:lstStyle/>
          <a:p>
            <a:pPr algn="ctr">
              <a:lnSpc>
                <a:spcPct val="115000"/>
              </a:lnSpc>
              <a:spcBef>
                <a:spcPts val="0"/>
              </a:spcBef>
            </a:pPr>
            <a:r>
              <a:rPr sz="2000" b="1">
                <a:solidFill>
                  <a:srgbClr val="141C26"/>
                </a:solidFill>
                <a:latin typeface="Aptos Display"/>
              </a:rPr>
              <a:t>4. Focused QA</a:t>
            </a:r>
          </a:p>
          <a:p>
            <a:pPr>
              <a:lnSpc>
                <a:spcPct val="120000"/>
              </a:lnSpc>
              <a:spcBef>
                <a:spcPts val="800"/>
              </a:spcBef>
            </a:pPr>
            <a:r>
              <a:rPr sz="1600" b="0">
                <a:solidFill>
                  <a:srgbClr val="141C26"/>
                </a:solidFill>
                <a:latin typeface="Aptos"/>
              </a:rPr>
              <a:t>Drift detection keeps tests on what changed.</a:t>
            </a:r>
          </a:p>
        </p:txBody>
      </p:sp>
      <p:sp>
        <p:nvSpPr>
          <p:cNvPr id="9" name="Rounded Rectangle 8"/>
          <p:cNvSpPr/>
          <p:nvPr/>
        </p:nvSpPr>
        <p:spPr>
          <a:xfrm>
            <a:off x="548640" y="4846320"/>
            <a:ext cx="11094415" cy="731520"/>
          </a:xfrm>
          <a:prstGeom prst="roundRect">
            <a:avLst>
              <a:gd name="adj" fmla="val 6000"/>
            </a:avLst>
          </a:prstGeom>
          <a:solidFill>
            <a:srgbClr val="DCFCE7"/>
          </a:solidFill>
          <a:ln w="12700">
            <a:solidFill>
              <a:srgbClr val="A9D4B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46304" bIns="146304"/>
          <a:lstStyle/>
          <a:p>
            <a:pPr algn="ctr"/>
            <a:r>
              <a:rPr sz="1700" b="1">
                <a:solidFill>
                  <a:srgbClr val="15803D"/>
                </a:solidFill>
                <a:latin typeface="Aptos"/>
              </a:rPr>
              <a:t>Next Step: </a:t>
            </a:r>
            <a:r>
              <a:rPr sz="1700" b="0">
                <a:solidFill>
                  <a:srgbClr val="141C26"/>
                </a:solidFill>
                <a:latin typeface="Aptos"/>
              </a:rPr>
              <a:t>A 2-week pilot on one bounded capability, such as Authentication or Order Intake.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
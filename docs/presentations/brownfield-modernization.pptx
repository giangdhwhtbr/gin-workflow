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EA2FF"/>
                </a:solidFill>
                <a:latin typeface="Segoe UI"/>
              </a:defRPr>
            </a:pPr>
            <a:r>
              <a:t>GIN-WORKFLOW 2.1 — MODERNIZATION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6EBF2"/>
                </a:solidFill>
                <a:latin typeface="Segoe UI"/>
              </a:defRPr>
            </a:pPr>
            <a:r>
              <a:t>Modernizing Brownfield Systems with Spec-Driven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9AA6B6"/>
                </a:solidFill>
                <a:latin typeface="Segoe UI"/>
              </a:defRPr>
            </a:pPr>
            <a:r>
              <a:t>An incremental, contract-first approach for engineering teams and leadership.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Target Audience: Board of Directors, Engineering Leadership, Product Managers, and Development Teams.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Core Strategy: Strangler Fig Pattern backed by living requirements contracts (SDD layout).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Execution Engine: 6 quality-gated stages with Git worktree isolation and independent code reviews.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EA2FF"/>
                </a:solidFill>
                <a:latin typeface="Segoe UI"/>
              </a:defRPr>
            </a:pPr>
            <a:r>
              <a:t>STRATEGIC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6EBF2"/>
                </a:solidFill>
                <a:latin typeface="Segoe UI"/>
              </a:defRPr>
            </a:pPr>
            <a:r>
              <a:t>The Brownfield Dilemma &amp; Modernization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9AA6B6"/>
                </a:solidFill>
                <a:latin typeface="Segoe UI"/>
              </a:defRPr>
            </a:pPr>
            <a:r>
              <a:t>Replacing legacy systems incrementally without halting ongoing business delivery.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Conventional Big-Bang Rewrite: 6-12 months freeze, undocumented legacy rules missed, high failure rate.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Incremental SDD Modernization: Each sprint ships an operational, production-ready vertical slice.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Strangler Fig Routing: API facade directs traffic to modernized capabilities one by one.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Living Contracts: Requirements codified in docs/specs/ with verifiable scenarios and regression protection.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EA2FF"/>
                </a:solidFill>
                <a:latin typeface="Segoe UI"/>
              </a:defRPr>
            </a:pPr>
            <a:r>
              <a:t>TARGET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6EBF2"/>
                </a:solidFill>
                <a:latin typeface="Segoe UI"/>
              </a:defRPr>
            </a:pPr>
            <a:r>
              <a:t>Strangler Fig Architecture with Facade Routing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9AA6B6"/>
                </a:solidFill>
                <a:latin typeface="Segoe UI"/>
              </a:defRPr>
            </a:pPr>
            <a:r>
              <a:t>Directing traffic from legacy monolith to modernized services behind living specs.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Clients &amp; Users: Single entry point through Reverse Proxy / API Facade Router.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Legacy Monolith: Subsystems remain operational while being systematically isolated.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Modernized Services: Capability cores defined by living specs (docs/specs/&lt;cap&gt;/spec.md).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Continuous Verification: Automated Playwright E2E suites ensure parity before legacy routes are retired.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EA2FF"/>
                </a:solidFill>
                <a:latin typeface="Segoe UI"/>
              </a:defRPr>
            </a:pPr>
            <a:r>
              <a:t>PHASE 0: DISCOVERY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6EBF2"/>
                </a:solidFill>
                <a:latin typeface="Segoe UI"/>
              </a:defRPr>
            </a:pPr>
            <a:r>
              <a:t>Automated Discovery of Legacy Codebases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9AA6B6"/>
                </a:solidFill>
                <a:latin typeface="Segoe UI"/>
              </a:defRPr>
            </a:pPr>
            <a:r>
              <a:t>Extracting architecture and boundary contracts directly from repository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The Legacy Gap: Outdated wikis, undocumented business logic, hidden database triggers.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Extraction via /tech-doc: Scans AST, routing tables, and schemas directly from source code.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Standardized Architecture Baseline: 10 structured docs under docs/codebase/ (API, ARCHITECTURE, STACK).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Zero Speculation: Every finding links to exact repository lines rather than subjective memory.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EA2FF"/>
                </a:solidFill>
                <a:latin typeface="Segoe UI"/>
              </a:defRPr>
            </a:pPr>
            <a:r>
              <a:t>ROADMAP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6EBF2"/>
                </a:solidFill>
                <a:latin typeface="Segoe UI"/>
              </a:defRPr>
            </a:pPr>
            <a:r>
              <a:t>Feasible Roadmapping: Early Deliverables from Sprint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9AA6B6"/>
                </a:solidFill>
                <a:latin typeface="Segoe UI"/>
              </a:defRPr>
            </a:pPr>
            <a:r>
              <a:t>Addressing leadership concerns on deliverable visibility and team workload allocation.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BOD &amp; PM Concern Addressed: Will early sprints be lost to setup with nothing to show clients?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Vertical Slicing Model: Reject horizontal slicing; deliver complete end-to-end capabilities every sprint.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Sprint 1 Deliverable: Extract pilot slice (e.g. Auth/Token Exchange) with live demoable software.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Sprint 2+ Cadence: Subsequent epics strangle legacy modules with established testing pipelines.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EA2FF"/>
                </a:solidFill>
                <a:latin typeface="Segoe UI"/>
              </a:defRPr>
            </a:pPr>
            <a:r>
              <a:t>TEAM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6EBF2"/>
                </a:solidFill>
                <a:latin typeface="Segoe UI"/>
              </a:defRPr>
            </a:pPr>
            <a:r>
              <a:t>Cross-Functional Roles in the Modernization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9AA6B6"/>
                </a:solidFill>
                <a:latin typeface="Segoe UI"/>
              </a:defRPr>
            </a:pPr>
            <a:r>
              <a:t>Structured division of responsibilities with pull-request verified quality gates.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Product Manager (PM): Owns docs/roadmap.md, tags sprint epics, tracks delivery milestones.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Business Analyst (BA): Owns living specs, writes EARS requirements, attaches UI mockups, signs PR gates.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Tech Lead &amp; Developers: Decompose architecture into bounded tracks, develop test-first in Git worktrees.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Quality Engineering (QE/QA): Generates test cases from specs, tracks drift, approves ship gates.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EA2FF"/>
                </a:solidFill>
                <a:latin typeface="Segoe UI"/>
              </a:defRPr>
            </a:pPr>
            <a:r>
              <a:t>QUALITY GATE: DISCUSS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6EBF2"/>
                </a:solidFill>
                <a:latin typeface="Segoe UI"/>
              </a:defRPr>
            </a:pPr>
            <a:r>
              <a:t>How AI-Generated Specifications Are Formally Verified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9AA6B6"/>
                </a:solidFill>
                <a:latin typeface="Segoe UI"/>
              </a:defRPr>
            </a:pPr>
            <a:r>
              <a:t>Eliminating hallucinations through deterministic grammar and human PR review gates.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Deterministic EARS Grammar: Requirements must declare SHALL/MUST statements and GIVEN/WHEN/THEN scenarios.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Automated Syntax Audit: specs lint immediately fails invalid formatting or orphaned scenarios.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Human Pull Request Gate: Spec changes are committed on spec/&lt;topic&gt;; gate requires human BA approval.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Visual Asset Grounding: Wireframes attached in docs/specs/&lt;cap&gt;/assets/ ground UI requirements.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EA2FF"/>
                </a:solidFill>
                <a:latin typeface="Segoe UI"/>
              </a:defRPr>
            </a:pPr>
            <a:r>
              <a:t>STAGES 2 &amp; 3: PLAN &amp; ORCHESTRATE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6EBF2"/>
                </a:solidFill>
                <a:latin typeface="Segoe UI"/>
              </a:defRPr>
            </a:pPr>
            <a:r>
              <a:t>Architectural Decomposition &amp; Workspace Isolation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9AA6B6"/>
                </a:solidFill>
                <a:latin typeface="Segoe UI"/>
              </a:defRPr>
            </a:pPr>
            <a:r>
              <a:t>Enforcing subsystem boundaries and preventing git conflicts during development.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Bounded Area Scoping: Tracks declare Area (e.g. Area: modern_api vs Area: legacy_adapter).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Strict Boundary Protection: File edits outside declared track areas are automatically blocked.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Git Worktree Isolation: /orchestrate provisions clean worktrees in .planning/worktrees/ for each track.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Parallel Development: Multiple engineers and AI subagents work concurrently without branch locking.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EA2FF"/>
                </a:solidFill>
                <a:latin typeface="Segoe UI"/>
              </a:defRPr>
            </a:pPr>
            <a:r>
              <a:t>STAGE 4: EXECUTE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6EBF2"/>
                </a:solidFill>
                <a:latin typeface="Segoe UI"/>
              </a:defRPr>
            </a:pPr>
            <a:r>
              <a:t>Ensuring Code Strictly Matches Specification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9AA6B6"/>
                </a:solidFill>
                <a:latin typeface="Segoe UI"/>
              </a:defRPr>
            </a:pPr>
            <a:r>
              <a:t>Guaranteed compliance through bidirectional requirement tagging and automated trace audits.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Bidirectional Linkage: Living Spec REQ-ID -&gt; plan.md Track -&gt; Test # REQ-ID -&gt; Implementation.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Test-Driven Development: Failing unit/integration tests must precede implementation code.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Automated Audit (specs trace): Audits codebase to ensure 100% of requirement scenarios have tests.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Zero Tolerance: Missing requirement tests block the verification and ship gates.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EA2FF"/>
                </a:solidFill>
                <a:latin typeface="Segoe UI"/>
              </a:defRPr>
            </a:pPr>
            <a:r>
              <a:t>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6EBF2"/>
                </a:solidFill>
                <a:latin typeface="Segoe UI"/>
              </a:defRPr>
            </a:pPr>
            <a:r>
              <a:t>Independent Code Review &amp; The Review Ledger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9AA6B6"/>
                </a:solidFill>
                <a:latin typeface="Segoe UI"/>
              </a:defRPr>
            </a:pPr>
            <a:r>
              <a:t>Structured review findings with documented technical resolutions.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Independent Evaluator: Dedicated code-reviewer agent inspects diff against rules and test coverage.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Durable Ledger: Review findings recorded in .planning/reviews/&lt;bead&gt;/findings.jsonl.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Technical Resolution Protocol: Engineers must verify and record Fix, Dispute, or Defer.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No Blind Acceptance: No task closes with unresolved or unaddressed review ledger items.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EA2FF"/>
                </a:solidFill>
                <a:latin typeface="Segoe UI"/>
              </a:defRPr>
            </a:pPr>
            <a:r>
              <a:t>QUALITY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6EBF2"/>
                </a:solidFill>
                <a:latin typeface="Segoe UI"/>
              </a:defRPr>
            </a:pPr>
            <a:r>
              <a:t>Focused QA: Preventing Test Overwhelm with gin-qa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9AA6B6"/>
                </a:solidFill>
                <a:latin typeface="Segoe UI"/>
              </a:defRPr>
            </a:pPr>
            <a:r>
              <a:t>Content-hash drift detection and targeted Playwright E2E automation.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The Overwhelm Trap: Unconstrained AI generates hundreds of low-value, noisy test cases.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Policy Steering (qa/guidelines.md): QA reserves E2E tests for critical user paths, offloading edge cases.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Hash-Pinned Drift Detection: Tests store SHA hashes (REQ-ID@hash); reports only missing or stale cases.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Zero Duplicate Work: Existing valid tests are untouched; QA focuses only on modified requirement deltas.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EA2FF"/>
                </a:solidFill>
                <a:latin typeface="Segoe UI"/>
              </a:defRPr>
            </a:pPr>
            <a:r>
              <a:t>STAGE 5: 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6EBF2"/>
                </a:solidFill>
                <a:latin typeface="Segoe UI"/>
              </a:defRPr>
            </a:pPr>
            <a:r>
              <a:t>Safe Integration &amp; Living Spec Archival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9AA6B6"/>
                </a:solidFill>
                <a:latin typeface="Segoe UI"/>
              </a:defRPr>
            </a:pPr>
            <a:r>
              <a:t>Atomic synchronization of living specifications and automated release packaging.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Pre-Ship Verification: Automated suite runs linting, typechecks, tests, and specs trace audits.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Atomic Archival: specs archive automatically merges spec-delta.md into docs/specs/&lt;cap&gt;/spec.md.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Safe Strangling: Modern capability goes live, legacy route is disabled, and proposal moves to archive.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Zero Documentation Debt: Living specs perpetually match production reality without manual updates.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EA2FF"/>
                </a:solidFill>
                <a:latin typeface="Segoe UI"/>
              </a:defRPr>
            </a:pPr>
            <a:r>
              <a:t>SUMMARY &amp; ACTION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6EBF2"/>
                </a:solidFill>
                <a:latin typeface="Segoe UI"/>
              </a:defRPr>
            </a:pPr>
            <a:r>
              <a:t>The Modernization Governance Blueprint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9AA6B6"/>
                </a:solidFill>
                <a:latin typeface="Segoe UI"/>
              </a:defRPr>
            </a:pPr>
            <a:r>
              <a:t>Controlled, verifiable delivery designed for engineering teams and leadership.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1. Verifiable Specs: Deterministic EARS grammar verified via human BA pull requests.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2. Early Value: Vertical slicing delivers working, demonstratable software from Sprint 1.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3. Code Parity: Bidirectional requirement traceability ensures code strictly matches contracts.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4. Focused QA: Hash-pinned drift detection prevents test case bloat and focuses on high-value paths.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Recommended Next Step: Execute a 2-week pilot sprint on a single bounded capability (e.g. Auth).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
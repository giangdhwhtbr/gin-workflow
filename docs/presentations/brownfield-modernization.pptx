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7EA2FF"/>
                </a:solidFill>
                <a:latin typeface="Segoe UI"/>
              </a:defRPr>
            </a:pPr>
            <a:r>
              <a:t>GIN-WORKFLOW 2.1 — MODERNIZATION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E6EBF2"/>
                </a:solidFill>
                <a:latin typeface="Segoe UI"/>
              </a:defRPr>
            </a:pPr>
            <a:r>
              <a:t>Modernizing Brownfield Systems with Spec-Driven Development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9AA6B6"/>
                </a:solidFill>
                <a:latin typeface="Segoe UI"/>
              </a:defRPr>
            </a:pPr>
            <a:r>
              <a:t>An incremental, contract-first approach for engineering teams and leadership.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377440"/>
            <a:ext cx="105156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600">
                <a:solidFill>
                  <a:srgbClr val="E6EBF2"/>
                </a:solidFill>
                <a:latin typeface="Segoe UI"/>
              </a:defRPr>
            </a:pPr>
            <a:r>
              <a:t>• Target Audience: Board of Directors, Engineering Leadership, Product Managers, and Development Teams.</a:t>
            </a:r>
          </a:p>
          <a:p>
            <a:pPr>
              <a:spcAft>
                <a:spcPts val="1600"/>
              </a:spcAft>
              <a:defRPr sz="1600">
                <a:solidFill>
                  <a:srgbClr val="E6EBF2"/>
                </a:solidFill>
                <a:latin typeface="Segoe UI"/>
              </a:defRPr>
            </a:pPr>
            <a:r>
              <a:t>• Core Strategy: Strangler Fig Pattern backed by living requirements contracts (SDD layout).</a:t>
            </a:r>
          </a:p>
          <a:p>
            <a:pPr>
              <a:spcAft>
                <a:spcPts val="1600"/>
              </a:spcAft>
              <a:defRPr sz="1600">
                <a:solidFill>
                  <a:srgbClr val="E6EBF2"/>
                </a:solidFill>
                <a:latin typeface="Segoe UI"/>
              </a:defRPr>
            </a:pPr>
            <a:r>
              <a:t>• Execution Engine: 6 quality-gated stages with Git worktree isolation and independent code reviews.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7EA2FF"/>
                </a:solidFill>
                <a:latin typeface="Segoe UI"/>
              </a:defRPr>
            </a:pPr>
            <a:r>
              <a:t>STRATEGIC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E6EBF2"/>
                </a:solidFill>
                <a:latin typeface="Segoe UI"/>
              </a:defRPr>
            </a:pPr>
            <a:r>
              <a:t>The Brownfield Dilemma &amp; Modernization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9AA6B6"/>
                </a:solidFill>
                <a:latin typeface="Segoe UI"/>
              </a:defRPr>
            </a:pPr>
            <a:r>
              <a:t>Replacing legacy systems incrementally without halting ongoing business delivery.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377440"/>
            <a:ext cx="105156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600">
                <a:solidFill>
                  <a:srgbClr val="E6EBF2"/>
                </a:solidFill>
                <a:latin typeface="Segoe UI"/>
              </a:defRPr>
            </a:pPr>
            <a:r>
              <a:t>• Conventional Big-Bang Rewrite: 6-12 months freeze, undocumented legacy rules missed, high failure rate.</a:t>
            </a:r>
          </a:p>
          <a:p>
            <a:pPr>
              <a:spcAft>
                <a:spcPts val="1600"/>
              </a:spcAft>
              <a:defRPr sz="1600">
                <a:solidFill>
                  <a:srgbClr val="E6EBF2"/>
                </a:solidFill>
                <a:latin typeface="Segoe UI"/>
              </a:defRPr>
            </a:pPr>
            <a:r>
              <a:t>• Incremental SDD Modernization: Each sprint ships an operational, production-ready vertical slice.</a:t>
            </a:r>
          </a:p>
          <a:p>
            <a:pPr>
              <a:spcAft>
                <a:spcPts val="1600"/>
              </a:spcAft>
              <a:defRPr sz="1600">
                <a:solidFill>
                  <a:srgbClr val="E6EBF2"/>
                </a:solidFill>
                <a:latin typeface="Segoe UI"/>
              </a:defRPr>
            </a:pPr>
            <a:r>
              <a:t>• Strangler Fig Routing: API facade directs traffic to modernized capabilities one by one.</a:t>
            </a:r>
          </a:p>
          <a:p>
            <a:pPr>
              <a:spcAft>
                <a:spcPts val="1600"/>
              </a:spcAft>
              <a:defRPr sz="1600">
                <a:solidFill>
                  <a:srgbClr val="E6EBF2"/>
                </a:solidFill>
                <a:latin typeface="Segoe UI"/>
              </a:defRPr>
            </a:pPr>
            <a:r>
              <a:t>• Living Contracts: Requirements codified in docs/specs/ with verifiable scenarios and regression protection.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7EA2FF"/>
                </a:solidFill>
                <a:latin typeface="Segoe UI"/>
              </a:defRPr>
            </a:pPr>
            <a:r>
              <a:t>TARGET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E6EBF2"/>
                </a:solidFill>
                <a:latin typeface="Segoe UI"/>
              </a:defRPr>
            </a:pPr>
            <a:r>
              <a:t>Strangler Fig Architecture with Facade Routing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9AA6B6"/>
                </a:solidFill>
                <a:latin typeface="Segoe UI"/>
              </a:defRPr>
            </a:pPr>
            <a:r>
              <a:t>Directing traffic from legacy monolith to modernized services behind living specs.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377440"/>
            <a:ext cx="105156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600">
                <a:solidFill>
                  <a:srgbClr val="E6EBF2"/>
                </a:solidFill>
                <a:latin typeface="Segoe UI"/>
              </a:defRPr>
            </a:pPr>
            <a:r>
              <a:t>• Clients &amp; Users: Single entry point through Reverse Proxy / API Facade Router.</a:t>
            </a:r>
          </a:p>
          <a:p>
            <a:pPr>
              <a:spcAft>
                <a:spcPts val="1600"/>
              </a:spcAft>
              <a:defRPr sz="1600">
                <a:solidFill>
                  <a:srgbClr val="E6EBF2"/>
                </a:solidFill>
                <a:latin typeface="Segoe UI"/>
              </a:defRPr>
            </a:pPr>
            <a:r>
              <a:t>• Legacy Monolith: Subsystems remain operational while being systematically isolated.</a:t>
            </a:r>
          </a:p>
          <a:p>
            <a:pPr>
              <a:spcAft>
                <a:spcPts val="1600"/>
              </a:spcAft>
              <a:defRPr sz="1600">
                <a:solidFill>
                  <a:srgbClr val="E6EBF2"/>
                </a:solidFill>
                <a:latin typeface="Segoe UI"/>
              </a:defRPr>
            </a:pPr>
            <a:r>
              <a:t>• Modernized Services: Capability cores defined by living specs (docs/specs/&lt;cap&gt;/spec.md).</a:t>
            </a:r>
          </a:p>
          <a:p>
            <a:pPr>
              <a:spcAft>
                <a:spcPts val="1600"/>
              </a:spcAft>
              <a:defRPr sz="1600">
                <a:solidFill>
                  <a:srgbClr val="E6EBF2"/>
                </a:solidFill>
                <a:latin typeface="Segoe UI"/>
              </a:defRPr>
            </a:pPr>
            <a:r>
              <a:t>• Continuous Verification: Automated Playwright E2E suites ensure parity before legacy routes are retired.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7EA2FF"/>
                </a:solidFill>
                <a:latin typeface="Segoe UI"/>
              </a:defRPr>
            </a:pPr>
            <a:r>
              <a:t>PHASE 0: DISCOVERY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E6EBF2"/>
                </a:solidFill>
                <a:latin typeface="Segoe UI"/>
              </a:defRPr>
            </a:pPr>
            <a:r>
              <a:t>Automated Discovery of Legacy Codebases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9AA6B6"/>
                </a:solidFill>
                <a:latin typeface="Segoe UI"/>
              </a:defRPr>
            </a:pPr>
            <a:r>
              <a:t>Extracting architecture and boundary contracts directly from repository evidence.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377440"/>
            <a:ext cx="105156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600">
                <a:solidFill>
                  <a:srgbClr val="E6EBF2"/>
                </a:solidFill>
                <a:latin typeface="Segoe UI"/>
              </a:defRPr>
            </a:pPr>
            <a:r>
              <a:t>• The Legacy Gap: Outdated wikis, undocumented business logic, hidden database triggers.</a:t>
            </a:r>
          </a:p>
          <a:p>
            <a:pPr>
              <a:spcAft>
                <a:spcPts val="1600"/>
              </a:spcAft>
              <a:defRPr sz="1600">
                <a:solidFill>
                  <a:srgbClr val="E6EBF2"/>
                </a:solidFill>
                <a:latin typeface="Segoe UI"/>
              </a:defRPr>
            </a:pPr>
            <a:r>
              <a:t>• Extraction via /tech-doc: Scans AST, routing tables, and schemas directly from source code.</a:t>
            </a:r>
          </a:p>
          <a:p>
            <a:pPr>
              <a:spcAft>
                <a:spcPts val="1600"/>
              </a:spcAft>
              <a:defRPr sz="1600">
                <a:solidFill>
                  <a:srgbClr val="E6EBF2"/>
                </a:solidFill>
                <a:latin typeface="Segoe UI"/>
              </a:defRPr>
            </a:pPr>
            <a:r>
              <a:t>• Standardized Architecture Baseline: 10 structured docs under docs/codebase/ (API, ARCHITECTURE, STACK).</a:t>
            </a:r>
          </a:p>
          <a:p>
            <a:pPr>
              <a:spcAft>
                <a:spcPts val="1600"/>
              </a:spcAft>
              <a:defRPr sz="1600">
                <a:solidFill>
                  <a:srgbClr val="E6EBF2"/>
                </a:solidFill>
                <a:latin typeface="Segoe UI"/>
              </a:defRPr>
            </a:pPr>
            <a:r>
              <a:t>• Zero Speculation: Every finding links to exact repository lines rather than subjective memory.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7EA2FF"/>
                </a:solidFill>
                <a:latin typeface="Segoe UI"/>
              </a:defRPr>
            </a:pPr>
            <a:r>
              <a:t>ROADMAP GOVERNANCE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E6EBF2"/>
                </a:solidFill>
                <a:latin typeface="Segoe UI"/>
              </a:defRPr>
            </a:pPr>
            <a:r>
              <a:t>Roadmap Sequencing &amp; Parallel Early Sprints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9AA6B6"/>
                </a:solidFill>
                <a:latin typeface="Segoe UI"/>
              </a:defRPr>
            </a:pPr>
            <a:r>
              <a:t>Using discovery dependencies to sequence unblocked epics while running repo setup and specs in parallel.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377440"/>
            <a:ext cx="105156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600">
                <a:solidFill>
                  <a:srgbClr val="E6EBF2"/>
                </a:solidFill>
                <a:latin typeface="Segoe UI"/>
              </a:defRPr>
            </a:pPr>
            <a:r>
              <a:t>• Dependency Mapping: /tech-doc maps legacy call graphs and data dependencies to prioritize unblocked modules.</a:t>
            </a:r>
          </a:p>
          <a:p>
            <a:pPr>
              <a:spcAft>
                <a:spcPts val="1600"/>
              </a:spcAft>
              <a:defRPr sz="1600">
                <a:solidFill>
                  <a:srgbClr val="E6EBF2"/>
                </a:solidFill>
                <a:latin typeface="Segoe UI"/>
              </a:defRPr>
            </a:pPr>
            <a:r>
              <a:t>• Specs Worth the Investment: Coding never starts on unconfirmed specs; premature coding causes severe rework.</a:t>
            </a:r>
          </a:p>
          <a:p>
            <a:pPr>
              <a:spcAft>
                <a:spcPts val="1600"/>
              </a:spcAft>
              <a:defRPr sz="1600">
                <a:solidFill>
                  <a:srgbClr val="E6EBF2"/>
                </a:solidFill>
                <a:latin typeface="Segoe UI"/>
              </a:defRPr>
            </a:pPr>
            <a:r>
              <a:t>• Parallel Early Sprints: Engineering stabilizes legacy app &amp; scaffolds repos while BA deep-dives into specs.</a:t>
            </a:r>
          </a:p>
          <a:p>
            <a:pPr>
              <a:spcAft>
                <a:spcPts val="1600"/>
              </a:spcAft>
              <a:defRPr sz="1600">
                <a:solidFill>
                  <a:srgbClr val="E6EBF2"/>
                </a:solidFill>
                <a:latin typeface="Segoe UI"/>
              </a:defRPr>
            </a:pPr>
            <a:r>
              <a:t>• Execution Transition: Once repos are ready and spec is confirmed (PR gate), Dev executes TDD implementation.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7EA2FF"/>
                </a:solidFill>
                <a:latin typeface="Segoe UI"/>
              </a:defRPr>
            </a:pPr>
            <a:r>
              <a:t>TEAM GOVERNANCE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E6EBF2"/>
                </a:solidFill>
                <a:latin typeface="Segoe UI"/>
              </a:defRPr>
            </a:pPr>
            <a:r>
              <a:t>Cross-Functional Roles in the Modernization Lifecycle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9AA6B6"/>
                </a:solidFill>
                <a:latin typeface="Segoe UI"/>
              </a:defRPr>
            </a:pPr>
            <a:r>
              <a:t>Structured division of responsibilities with pull-request verified quality gates.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377440"/>
            <a:ext cx="105156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600">
                <a:solidFill>
                  <a:srgbClr val="E6EBF2"/>
                </a:solidFill>
                <a:latin typeface="Segoe UI"/>
              </a:defRPr>
            </a:pPr>
            <a:r>
              <a:t>• Product Manager (PM): Owns docs/roadmap.md, tags sprint epics, tracks delivery milestones.</a:t>
            </a:r>
          </a:p>
          <a:p>
            <a:pPr>
              <a:spcAft>
                <a:spcPts val="1600"/>
              </a:spcAft>
              <a:defRPr sz="1600">
                <a:solidFill>
                  <a:srgbClr val="E6EBF2"/>
                </a:solidFill>
                <a:latin typeface="Segoe UI"/>
              </a:defRPr>
            </a:pPr>
            <a:r>
              <a:t>• Business Analyst (BA): Owns living specs, writes EARS requirements, attaches UI mockups, signs PR gates.</a:t>
            </a:r>
          </a:p>
          <a:p>
            <a:pPr>
              <a:spcAft>
                <a:spcPts val="1600"/>
              </a:spcAft>
              <a:defRPr sz="1600">
                <a:solidFill>
                  <a:srgbClr val="E6EBF2"/>
                </a:solidFill>
                <a:latin typeface="Segoe UI"/>
              </a:defRPr>
            </a:pPr>
            <a:r>
              <a:t>• Tech Lead &amp; Developers: Decompose architecture into bounded tracks, develop test-first in Git worktrees.</a:t>
            </a:r>
          </a:p>
          <a:p>
            <a:pPr>
              <a:spcAft>
                <a:spcPts val="1600"/>
              </a:spcAft>
              <a:defRPr sz="1600">
                <a:solidFill>
                  <a:srgbClr val="E6EBF2"/>
                </a:solidFill>
                <a:latin typeface="Segoe UI"/>
              </a:defRPr>
            </a:pPr>
            <a:r>
              <a:t>• Quality Engineering (QE/QA): Generates test cases from specs, tracks drift, approves ship gates.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7EA2FF"/>
                </a:solidFill>
                <a:latin typeface="Segoe UI"/>
              </a:defRPr>
            </a:pPr>
            <a:r>
              <a:t>QUALITY GATE: DISCUSS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E6EBF2"/>
                </a:solidFill>
                <a:latin typeface="Segoe UI"/>
              </a:defRPr>
            </a:pPr>
            <a:r>
              <a:t>How AI-Generated Specifications Are Formally Verified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9AA6B6"/>
                </a:solidFill>
                <a:latin typeface="Segoe UI"/>
              </a:defRPr>
            </a:pPr>
            <a:r>
              <a:t>Eliminating hallucinations through deterministic grammar and human PR review gates.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377440"/>
            <a:ext cx="105156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600">
                <a:solidFill>
                  <a:srgbClr val="E6EBF2"/>
                </a:solidFill>
                <a:latin typeface="Segoe UI"/>
              </a:defRPr>
            </a:pPr>
            <a:r>
              <a:t>• Deterministic EARS Grammar: Requirements must declare SHALL/MUST statements and GIVEN/WHEN/THEN scenarios.</a:t>
            </a:r>
          </a:p>
          <a:p>
            <a:pPr>
              <a:spcAft>
                <a:spcPts val="1600"/>
              </a:spcAft>
              <a:defRPr sz="1600">
                <a:solidFill>
                  <a:srgbClr val="E6EBF2"/>
                </a:solidFill>
                <a:latin typeface="Segoe UI"/>
              </a:defRPr>
            </a:pPr>
            <a:r>
              <a:t>• Automated Syntax Audit: specs lint immediately fails invalid formatting or orphaned scenarios.</a:t>
            </a:r>
          </a:p>
          <a:p>
            <a:pPr>
              <a:spcAft>
                <a:spcPts val="1600"/>
              </a:spcAft>
              <a:defRPr sz="1600">
                <a:solidFill>
                  <a:srgbClr val="E6EBF2"/>
                </a:solidFill>
                <a:latin typeface="Segoe UI"/>
              </a:defRPr>
            </a:pPr>
            <a:r>
              <a:t>• Human Pull Request Gate: Spec changes are committed on spec/&lt;topic&gt;; gate requires human BA approval.</a:t>
            </a:r>
          </a:p>
          <a:p>
            <a:pPr>
              <a:spcAft>
                <a:spcPts val="1600"/>
              </a:spcAft>
              <a:defRPr sz="1600">
                <a:solidFill>
                  <a:srgbClr val="E6EBF2"/>
                </a:solidFill>
                <a:latin typeface="Segoe UI"/>
              </a:defRPr>
            </a:pPr>
            <a:r>
              <a:t>• Visual Asset Grounding: Wireframes attached in docs/specs/&lt;cap&gt;/assets/ ground UI requirements.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7EA2FF"/>
                </a:solidFill>
                <a:latin typeface="Segoe UI"/>
              </a:defRPr>
            </a:pPr>
            <a:r>
              <a:t>STAGES 2 &amp; 3: PLAN &amp; ORCHESTRATE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E6EBF2"/>
                </a:solidFill>
                <a:latin typeface="Segoe UI"/>
              </a:defRPr>
            </a:pPr>
            <a:r>
              <a:t>Architectural Decomposition, Worktrees &amp; Model Routing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9AA6B6"/>
                </a:solidFill>
                <a:latin typeface="Segoe UI"/>
              </a:defRPr>
            </a:pPr>
            <a:r>
              <a:t>Enforcing subsystem boundaries, isolating workspaces, and routing models by task complexity.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377440"/>
            <a:ext cx="105156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600">
                <a:solidFill>
                  <a:srgbClr val="E6EBF2"/>
                </a:solidFill>
                <a:latin typeface="Segoe UI"/>
              </a:defRPr>
            </a:pPr>
            <a:r>
              <a:t>• Bounded Area Scoping: Tracks declare Area (e.g. Area: modern_api vs Area: legacy_adapter).</a:t>
            </a:r>
          </a:p>
          <a:p>
            <a:pPr>
              <a:spcAft>
                <a:spcPts val="1600"/>
              </a:spcAft>
              <a:defRPr sz="1600">
                <a:solidFill>
                  <a:srgbClr val="E6EBF2"/>
                </a:solidFill>
                <a:latin typeface="Segoe UI"/>
              </a:defRPr>
            </a:pPr>
            <a:r>
              <a:t>• Strict Boundary Protection: File edits outside declared track areas are automatically blocked.</a:t>
            </a:r>
          </a:p>
          <a:p>
            <a:pPr>
              <a:spcAft>
                <a:spcPts val="1600"/>
              </a:spcAft>
              <a:defRPr sz="1600">
                <a:solidFill>
                  <a:srgbClr val="E6EBF2"/>
                </a:solidFill>
                <a:latin typeface="Segoe UI"/>
              </a:defRPr>
            </a:pPr>
            <a:r>
              <a:t>• Git Worktree Isolation: /orchestrate provisions clean worktrees in .planning/worktrees/ for each track.</a:t>
            </a:r>
          </a:p>
          <a:p>
            <a:pPr>
              <a:spcAft>
                <a:spcPts val="1600"/>
              </a:spcAft>
              <a:defRPr sz="1600">
                <a:solidFill>
                  <a:srgbClr val="E6EBF2"/>
                </a:solidFill>
                <a:latin typeface="Segoe UI"/>
              </a:defRPr>
            </a:pPr>
            <a:r>
              <a:t>• Complexity-Based Model Routing: Orchestrator evaluates track difficulty to assign optimal reasoning tiers (low/med/high).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7EA2FF"/>
                </a:solidFill>
                <a:latin typeface="Segoe UI"/>
              </a:defRPr>
            </a:pPr>
            <a:r>
              <a:t>STAGE 4: EXECUTE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E6EBF2"/>
                </a:solidFill>
                <a:latin typeface="Segoe UI"/>
              </a:defRPr>
            </a:pPr>
            <a:r>
              <a:t>Ensuring Code Strictly Matches Specification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9AA6B6"/>
                </a:solidFill>
                <a:latin typeface="Segoe UI"/>
              </a:defRPr>
            </a:pPr>
            <a:r>
              <a:t>Guaranteed compliance through bidirectional requirement tagging and automated trace audits.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377440"/>
            <a:ext cx="105156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600">
                <a:solidFill>
                  <a:srgbClr val="E6EBF2"/>
                </a:solidFill>
                <a:latin typeface="Segoe UI"/>
              </a:defRPr>
            </a:pPr>
            <a:r>
              <a:t>• Bidirectional Linkage: Living Spec REQ-ID -&gt; plan.md Track -&gt; Test # REQ-ID -&gt; Implementation.</a:t>
            </a:r>
          </a:p>
          <a:p>
            <a:pPr>
              <a:spcAft>
                <a:spcPts val="1600"/>
              </a:spcAft>
              <a:defRPr sz="1600">
                <a:solidFill>
                  <a:srgbClr val="E6EBF2"/>
                </a:solidFill>
                <a:latin typeface="Segoe UI"/>
              </a:defRPr>
            </a:pPr>
            <a:r>
              <a:t>• Test-Driven Development: Failing unit/integration tests must precede implementation code.</a:t>
            </a:r>
          </a:p>
          <a:p>
            <a:pPr>
              <a:spcAft>
                <a:spcPts val="1600"/>
              </a:spcAft>
              <a:defRPr sz="1600">
                <a:solidFill>
                  <a:srgbClr val="E6EBF2"/>
                </a:solidFill>
                <a:latin typeface="Segoe UI"/>
              </a:defRPr>
            </a:pPr>
            <a:r>
              <a:t>• Automated Audit (specs trace): Audits codebase to ensure 100% of requirement scenarios have tests.</a:t>
            </a:r>
          </a:p>
          <a:p>
            <a:pPr>
              <a:spcAft>
                <a:spcPts val="1600"/>
              </a:spcAft>
              <a:defRPr sz="1600">
                <a:solidFill>
                  <a:srgbClr val="E6EBF2"/>
                </a:solidFill>
                <a:latin typeface="Segoe UI"/>
              </a:defRPr>
            </a:pPr>
            <a:r>
              <a:t>• Zero Tolerance: Missing requirement tests block the verification and ship gates.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7EA2FF"/>
                </a:solidFill>
                <a:latin typeface="Segoe UI"/>
              </a:defRPr>
            </a:pPr>
            <a:r>
              <a:t>VERIFICATION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E6EBF2"/>
                </a:solidFill>
                <a:latin typeface="Segoe UI"/>
              </a:defRPr>
            </a:pPr>
            <a:r>
              <a:t>Independent Code Review &amp; The Review Ledger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9AA6B6"/>
                </a:solidFill>
                <a:latin typeface="Segoe UI"/>
              </a:defRPr>
            </a:pPr>
            <a:r>
              <a:t>Structured review findings with documented technical resolutions.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377440"/>
            <a:ext cx="105156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600">
                <a:solidFill>
                  <a:srgbClr val="E6EBF2"/>
                </a:solidFill>
                <a:latin typeface="Segoe UI"/>
              </a:defRPr>
            </a:pPr>
            <a:r>
              <a:t>• Independent Evaluator: Dedicated code-reviewer agent inspects diff against rules and test coverage.</a:t>
            </a:r>
          </a:p>
          <a:p>
            <a:pPr>
              <a:spcAft>
                <a:spcPts val="1600"/>
              </a:spcAft>
              <a:defRPr sz="1600">
                <a:solidFill>
                  <a:srgbClr val="E6EBF2"/>
                </a:solidFill>
                <a:latin typeface="Segoe UI"/>
              </a:defRPr>
            </a:pPr>
            <a:r>
              <a:t>• Durable Ledger: Review findings recorded in .planning/reviews/&lt;bead&gt;/findings.jsonl.</a:t>
            </a:r>
          </a:p>
          <a:p>
            <a:pPr>
              <a:spcAft>
                <a:spcPts val="1600"/>
              </a:spcAft>
              <a:defRPr sz="1600">
                <a:solidFill>
                  <a:srgbClr val="E6EBF2"/>
                </a:solidFill>
                <a:latin typeface="Segoe UI"/>
              </a:defRPr>
            </a:pPr>
            <a:r>
              <a:t>• Technical Resolution Protocol: Engineers must verify and record Fix, Dispute, or Defer.</a:t>
            </a:r>
          </a:p>
          <a:p>
            <a:pPr>
              <a:spcAft>
                <a:spcPts val="1600"/>
              </a:spcAft>
              <a:defRPr sz="1600">
                <a:solidFill>
                  <a:srgbClr val="E6EBF2"/>
                </a:solidFill>
                <a:latin typeface="Segoe UI"/>
              </a:defRPr>
            </a:pPr>
            <a:r>
              <a:t>• No Blind Acceptance: No task closes with unresolved or unaddressed review ledger items.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7EA2FF"/>
                </a:solidFill>
                <a:latin typeface="Segoe UI"/>
              </a:defRPr>
            </a:pPr>
            <a:r>
              <a:t>QUALITY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E6EBF2"/>
                </a:solidFill>
                <a:latin typeface="Segoe UI"/>
              </a:defRPr>
            </a:pPr>
            <a:r>
              <a:t>Focused QA: Preventing Test Overwhelm with gin-qa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9AA6B6"/>
                </a:solidFill>
                <a:latin typeface="Segoe UI"/>
              </a:defRPr>
            </a:pPr>
            <a:r>
              <a:t>Content-hash drift detection and targeted Playwright E2E automation.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377440"/>
            <a:ext cx="105156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600">
                <a:solidFill>
                  <a:srgbClr val="E6EBF2"/>
                </a:solidFill>
                <a:latin typeface="Segoe UI"/>
              </a:defRPr>
            </a:pPr>
            <a:r>
              <a:t>• The Overwhelm Trap: Unconstrained AI generates hundreds of low-value, noisy test cases.</a:t>
            </a:r>
          </a:p>
          <a:p>
            <a:pPr>
              <a:spcAft>
                <a:spcPts val="1600"/>
              </a:spcAft>
              <a:defRPr sz="1600">
                <a:solidFill>
                  <a:srgbClr val="E6EBF2"/>
                </a:solidFill>
                <a:latin typeface="Segoe UI"/>
              </a:defRPr>
            </a:pPr>
            <a:r>
              <a:t>• Policy Steering (qa/guidelines.md): QA reserves E2E tests for critical user paths, offloading edge cases.</a:t>
            </a:r>
          </a:p>
          <a:p>
            <a:pPr>
              <a:spcAft>
                <a:spcPts val="1600"/>
              </a:spcAft>
              <a:defRPr sz="1600">
                <a:solidFill>
                  <a:srgbClr val="E6EBF2"/>
                </a:solidFill>
                <a:latin typeface="Segoe UI"/>
              </a:defRPr>
            </a:pPr>
            <a:r>
              <a:t>• Hash-Pinned Drift Detection: Tests store SHA hashes (REQ-ID@hash); reports only missing or stale cases.</a:t>
            </a:r>
          </a:p>
          <a:p>
            <a:pPr>
              <a:spcAft>
                <a:spcPts val="1600"/>
              </a:spcAft>
              <a:defRPr sz="1600">
                <a:solidFill>
                  <a:srgbClr val="E6EBF2"/>
                </a:solidFill>
                <a:latin typeface="Segoe UI"/>
              </a:defRPr>
            </a:pPr>
            <a:r>
              <a:t>• Zero Duplicate Work: Existing valid tests are untouched; QA focuses only on modified requirement deltas.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7EA2FF"/>
                </a:solidFill>
                <a:latin typeface="Segoe UI"/>
              </a:defRPr>
            </a:pPr>
            <a:r>
              <a:t>TOKEN ECONOMICS &amp; GOVERNANCE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E6EBF2"/>
                </a:solidFill>
                <a:latin typeface="Segoe UI"/>
              </a:defRPr>
            </a:pPr>
            <a:r>
              <a:t>Token Economics: Shift-Left Investment &amp; Optimal Routing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9AA6B6"/>
                </a:solidFill>
                <a:latin typeface="Segoe UI"/>
              </a:defRPr>
            </a:pPr>
            <a:r>
              <a:t>Preventing exponential late-phase rework costs through upfront clarity and automated model matching.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377440"/>
            <a:ext cx="105156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600">
                <a:solidFill>
                  <a:srgbClr val="E6EBF2"/>
                </a:solidFill>
                <a:latin typeface="Segoe UI"/>
              </a:defRPr>
            </a:pPr>
            <a:r>
              <a:t>• High-ROI Shift-Left: Spending tokens early in discuss to clarify specs prevents cascading legacy rework.</a:t>
            </a:r>
          </a:p>
          <a:p>
            <a:pPr>
              <a:spcAft>
                <a:spcPts val="1600"/>
              </a:spcAft>
              <a:defRPr sz="1600">
                <a:solidFill>
                  <a:srgbClr val="E6EBF2"/>
                </a:solidFill>
                <a:latin typeface="Segoe UI"/>
              </a:defRPr>
            </a:pPr>
            <a:r>
              <a:t>• Late Ambiguity Cost Cascade: Unclear specs discovered late force massive token burn in multi-file debug cycles.</a:t>
            </a:r>
          </a:p>
          <a:p>
            <a:pPr>
              <a:spcAft>
                <a:spcPts val="1600"/>
              </a:spcAft>
              <a:defRPr sz="1600">
                <a:solidFill>
                  <a:srgbClr val="E6EBF2"/>
                </a:solidFill>
                <a:latin typeface="Segoe UI"/>
              </a:defRPr>
            </a:pPr>
            <a:r>
              <a:t>• Eliminates Guesswork: Orchestrator routes tasks to exact model and reasoning tiers, ending trial-and-error retries.</a:t>
            </a:r>
          </a:p>
          <a:p>
            <a:pPr>
              <a:spcAft>
                <a:spcPts val="1600"/>
              </a:spcAft>
              <a:defRPr sz="1600">
                <a:solidFill>
                  <a:srgbClr val="E6EBF2"/>
                </a:solidFill>
                <a:latin typeface="Segoe UI"/>
              </a:defRPr>
            </a:pPr>
            <a:r>
              <a:t>• Economic Principle: 1k tokens in spec clarity saves 50k+ tokens in late rework, hallucinated fixes, and review churn.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7EA2FF"/>
                </a:solidFill>
                <a:latin typeface="Segoe UI"/>
              </a:defRPr>
            </a:pPr>
            <a:r>
              <a:t>STAGE 5: SHIP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E6EBF2"/>
                </a:solidFill>
                <a:latin typeface="Segoe UI"/>
              </a:defRPr>
            </a:pPr>
            <a:r>
              <a:t>Safe Integration &amp; Living Spec Archival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9AA6B6"/>
                </a:solidFill>
                <a:latin typeface="Segoe UI"/>
              </a:defRPr>
            </a:pPr>
            <a:r>
              <a:t>Atomic synchronization of living specifications and automated release packaging.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377440"/>
            <a:ext cx="105156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600">
                <a:solidFill>
                  <a:srgbClr val="E6EBF2"/>
                </a:solidFill>
                <a:latin typeface="Segoe UI"/>
              </a:defRPr>
            </a:pPr>
            <a:r>
              <a:t>• Pre-Ship Verification: Automated suite runs linting, typechecks, tests, and specs trace audits.</a:t>
            </a:r>
          </a:p>
          <a:p>
            <a:pPr>
              <a:spcAft>
                <a:spcPts val="1600"/>
              </a:spcAft>
              <a:defRPr sz="1600">
                <a:solidFill>
                  <a:srgbClr val="E6EBF2"/>
                </a:solidFill>
                <a:latin typeface="Segoe UI"/>
              </a:defRPr>
            </a:pPr>
            <a:r>
              <a:t>• Atomic Archival: specs archive automatically merges spec-delta.md into docs/specs/&lt;cap&gt;/spec.md.</a:t>
            </a:r>
          </a:p>
          <a:p>
            <a:pPr>
              <a:spcAft>
                <a:spcPts val="1600"/>
              </a:spcAft>
              <a:defRPr sz="1600">
                <a:solidFill>
                  <a:srgbClr val="E6EBF2"/>
                </a:solidFill>
                <a:latin typeface="Segoe UI"/>
              </a:defRPr>
            </a:pPr>
            <a:r>
              <a:t>• Safe Strangling: Modern capability goes live, legacy route is disabled, and proposal moves to archive.</a:t>
            </a:r>
          </a:p>
          <a:p>
            <a:pPr>
              <a:spcAft>
                <a:spcPts val="1600"/>
              </a:spcAft>
              <a:defRPr sz="1600">
                <a:solidFill>
                  <a:srgbClr val="E6EBF2"/>
                </a:solidFill>
                <a:latin typeface="Segoe UI"/>
              </a:defRPr>
            </a:pPr>
            <a:r>
              <a:t>• Zero Documentation Debt: Living specs perpetually match production reality without manual updates.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7EA2FF"/>
                </a:solidFill>
                <a:latin typeface="Segoe UI"/>
              </a:defRPr>
            </a:pPr>
            <a:r>
              <a:t>SUMMARY &amp; ACTION 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E6EBF2"/>
                </a:solidFill>
                <a:latin typeface="Segoe UI"/>
              </a:defRPr>
            </a:pPr>
            <a:r>
              <a:t>The Modernization Governance Blueprint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9AA6B6"/>
                </a:solidFill>
                <a:latin typeface="Segoe UI"/>
              </a:defRPr>
            </a:pPr>
            <a:r>
              <a:t>Controlled, verifiable delivery designed for engineering teams and leadership.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377440"/>
            <a:ext cx="105156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600">
                <a:solidFill>
                  <a:srgbClr val="E6EBF2"/>
                </a:solidFill>
                <a:latin typeface="Segoe UI"/>
              </a:defRPr>
            </a:pPr>
            <a:r>
              <a:t>• 1. Verifiable Specs: Deterministic EARS grammar verified via human BA pull requests.</a:t>
            </a:r>
          </a:p>
          <a:p>
            <a:pPr>
              <a:spcAft>
                <a:spcPts val="1600"/>
              </a:spcAft>
              <a:defRPr sz="1600">
                <a:solidFill>
                  <a:srgbClr val="E6EBF2"/>
                </a:solidFill>
                <a:latin typeface="Segoe UI"/>
              </a:defRPr>
            </a:pPr>
            <a:r>
              <a:t>• 2. Parallel Start: Dependency analysis picks unblocked epics while early sprints run setup and specs in parallel.</a:t>
            </a:r>
          </a:p>
          <a:p>
            <a:pPr>
              <a:spcAft>
                <a:spcPts val="1600"/>
              </a:spcAft>
              <a:defRPr sz="1600">
                <a:solidFill>
                  <a:srgbClr val="E6EBF2"/>
                </a:solidFill>
                <a:latin typeface="Segoe UI"/>
              </a:defRPr>
            </a:pPr>
            <a:r>
              <a:t>• 3. Code Parity: Bidirectional requirement traceability ensures code strictly matches contracts.</a:t>
            </a:r>
          </a:p>
          <a:p>
            <a:pPr>
              <a:spcAft>
                <a:spcPts val="1600"/>
              </a:spcAft>
              <a:defRPr sz="1600">
                <a:solidFill>
                  <a:srgbClr val="E6EBF2"/>
                </a:solidFill>
                <a:latin typeface="Segoe UI"/>
              </a:defRPr>
            </a:pPr>
            <a:r>
              <a:t>• 4. Focused QA: Hash-pinned drift detection prevents test case bloat and focuses on high-value paths.</a:t>
            </a:r>
          </a:p>
          <a:p>
            <a:pPr>
              <a:spcAft>
                <a:spcPts val="1600"/>
              </a:spcAft>
              <a:defRPr sz="1600">
                <a:solidFill>
                  <a:srgbClr val="E6EBF2"/>
                </a:solidFill>
                <a:latin typeface="Segoe UI"/>
              </a:defRPr>
            </a:pPr>
            <a:r>
              <a:t>• Recommended Next Step: Execute a 2-week pilot sprint on a single bounded capability (e.g. Auth).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